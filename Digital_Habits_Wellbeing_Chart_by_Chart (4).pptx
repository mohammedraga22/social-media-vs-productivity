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6.xml" ContentType="application/vnd.openxmlformats-officedocument.drawingml.chart+xml"/>
  <Override PartName="/ppt/charts/chart17.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8.xml" ContentType="application/vnd.openxmlformats-officedocument.drawingml.chart+xml"/>
  <Override PartName="/ppt/charts/chart19.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0.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1.xml" ContentType="application/vnd.openxmlformats-officedocument.drawingml.chart+xml"/>
  <Override PartName="/ppt/charts/chart2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4.xml" ContentType="application/vnd.openxmlformats-officedocument.drawingml.chart+xml"/>
  <Override PartName="/ppt/charts/chart25.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028090"/>
              </a:solidFill>
              <a:effectLst/>
            </c:spPr>
          </c:dPt>
          <c:dPt>
            <c:idx val="1"/>
            <c:bubble3D val="0"/>
            <c:spPr>
              <a:solidFill>
                <a:srgbClr val="00A896"/>
              </a:solidFill>
              <a:effectLst/>
            </c:spPr>
          </c:dPt>
          <c:dPt>
            <c:idx val="2"/>
            <c:bubble3D val="0"/>
            <c:spPr>
              <a:solidFill>
                <a:srgbClr val="02C39A"/>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Male</c:v>
                </c:pt>
                <c:pt idx="1">
                  <c:v>Female</c:v>
                </c:pt>
                <c:pt idx="2">
                  <c:v>Other</c:v>
                </c:pt>
              </c:strCache>
            </c:strRef>
          </c:cat>
          <c:val>
            <c:numRef>
              <c:f>Sheet1!$B$2:$B$4</c:f>
              <c:numCache>
                <c:ptCount val="3"/>
                <c:pt idx="0">
                  <c:v>14452</c:v>
                </c:pt>
                <c:pt idx="1">
                  <c:v>14370</c:v>
                </c:pt>
                <c:pt idx="2">
                  <c:v>1178</c:v>
                </c:pt>
              </c:numCache>
            </c:numRef>
          </c:val>
        </c:ser>
        <c:firstSliceAng val="0"/>
        <c:holeSize val="50"/>
      </c:doughnutChart>
      <c:spPr>
        <a:noFill/>
        <a:ln>
          <a:noFill/>
        </a:ln>
        <a:effectLst/>
      </c:spPr>
    </c:plotArea>
    <c:legend>
      <c:legendPos val="b"/>
      <c:overlay val="0"/>
      <c:txPr>
        <a:bodyPr/>
        <a:lstStyle/>
        <a:p>
          <a:pPr>
            <a:defRPr sz="900">
              <a:solidFill>
                <a:srgbClr val="1B3A4B"/>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Users</c:v>
                </c:pt>
              </c:strCache>
            </c:strRef>
          </c:tx>
          <c:spPr>
            <a:solidFill>
              <a:srgbClr val="028090"/>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Sheet1!$A$2:$A$7</c:f>
              <c:multiLvlStrCache>
                <c:ptCount val="6"/>
                <c:lvl>
                  <c:pt idx="0">
                    <c:v>Education</c:v>
                  </c:pt>
                  <c:pt idx="1">
                    <c:v>IT</c:v>
                  </c:pt>
                  <c:pt idx="2">
                    <c:v>Finance</c:v>
                  </c:pt>
                  <c:pt idx="3">
                    <c:v>Student</c:v>
                  </c:pt>
                  <c:pt idx="4">
                    <c:v>Unemployed</c:v>
                  </c:pt>
                  <c:pt idx="5">
                    <c:v>Health</c:v>
                  </c:pt>
                </c:lvl>
              </c:multiLvlStrCache>
            </c:multiLvlStrRef>
          </c:cat>
          <c:val>
            <c:numRef>
              <c:f>Sheet1!$B$2:$B$7</c:f>
              <c:numCache>
                <c:formatCode>General</c:formatCode>
                <c:ptCount val="6"/>
                <c:pt idx="0">
                  <c:v>5055</c:v>
                </c:pt>
                <c:pt idx="1">
                  <c:v>5026</c:v>
                </c:pt>
                <c:pt idx="2">
                  <c:v>5017</c:v>
                </c:pt>
                <c:pt idx="3">
                  <c:v>5012</c:v>
                </c:pt>
                <c:pt idx="4">
                  <c:v>4958</c:v>
                </c:pt>
                <c:pt idx="5">
                  <c:v>4932</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E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Users</c:v>
                </c:pt>
              </c:strCache>
            </c:strRef>
          </c:tx>
          <c:spPr>
            <a:solidFill>
              <a:srgbClr val="00A896"/>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Sheet1!$A$2:$A$6</c:f>
              <c:multiLvlStrCache>
                <c:ptCount val="5"/>
                <c:lvl>
                  <c:pt idx="0">
                    <c:v>TikTok</c:v>
                  </c:pt>
                  <c:pt idx="1">
                    <c:v>Telegram</c:v>
                  </c:pt>
                  <c:pt idx="2">
                    <c:v>Instagram</c:v>
                  </c:pt>
                  <c:pt idx="3">
                    <c:v>Twitter</c:v>
                  </c:pt>
                  <c:pt idx="4">
                    <c:v>Facebook</c:v>
                  </c:pt>
                </c:lvl>
              </c:multiLvlStrCache>
            </c:multiLvlStrRef>
          </c:cat>
          <c:val>
            <c:numRef>
              <c:f>Sheet1!$B$2:$B$6</c:f>
              <c:numCache>
                <c:formatCode>General</c:formatCode>
                <c:ptCount val="5"/>
                <c:pt idx="0">
                  <c:v>6096</c:v>
                </c:pt>
                <c:pt idx="1">
                  <c:v>6013</c:v>
                </c:pt>
                <c:pt idx="2">
                  <c:v>6006</c:v>
                </c:pt>
                <c:pt idx="3">
                  <c:v>5964</c:v>
                </c:pt>
                <c:pt idx="4">
                  <c:v>5921</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Users</c:v>
                </c:pt>
              </c:strCache>
            </c:strRef>
          </c:tx>
          <c:spPr>
            <a:solidFill>
              <a:srgbClr val="02C39A"/>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Sheet1!$A$2:$A$6</c:f>
              <c:multiLvlStrCache>
                <c:ptCount val="5"/>
                <c:lvl>
                  <c:pt idx="0">
                    <c:v>18-24</c:v>
                  </c:pt>
                  <c:pt idx="1">
                    <c:v>25-34</c:v>
                  </c:pt>
                  <c:pt idx="2">
                    <c:v>35-44</c:v>
                  </c:pt>
                  <c:pt idx="3">
                    <c:v>45-54</c:v>
                  </c:pt>
                  <c:pt idx="4">
                    <c:v>55+</c:v>
                  </c:pt>
                </c:lvl>
              </c:multiLvlStrCache>
            </c:multiLvlStrRef>
          </c:cat>
          <c:val>
            <c:numRef>
              <c:f>Sheet1!$B$2:$B$6</c:f>
              <c:numCache>
                <c:formatCode>General</c:formatCode>
                <c:ptCount val="5"/>
                <c:pt idx="0">
                  <c:v>4299</c:v>
                </c:pt>
                <c:pt idx="1">
                  <c:v>6401</c:v>
                </c:pt>
                <c:pt idx="2">
                  <c:v>6256</c:v>
                </c:pt>
                <c:pt idx="3">
                  <c:v>6210</c:v>
                </c:pt>
                <c:pt idx="4">
                  <c:v>6834</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Avg Actual Productivity</c:v>
                </c:pt>
              </c:strCache>
            </c:strRef>
          </c:tx>
          <c:spPr>
            <a:solidFill>
              <a:srgbClr val="028090"/>
            </a:solidFill>
            <a:effectLst/>
          </c:spPr>
          <c:invertIfNegative val="0"/>
          <c:dLbls>
            <c:numFmt formatCode="#,##0" sourceLinked="0"/>
            <c:txPr>
              <a:bodyPr/>
              <a:lstStyle/>
              <a:p>
                <a:pPr>
                  <a:defRPr b="0" i="0" strike="noStrike" sz="1000" u="none">
                    <a:solidFill>
                      <a:srgbClr val="1B3A4B"/>
                    </a:solidFill>
                    <a:latin typeface="Arial"/>
                  </a:defRPr>
                </a:pPr>
              </a:p>
            </c:txPr>
            <c:showLegendKey val="0"/>
            <c:showVal val="1"/>
            <c:showCatName val="0"/>
            <c:showSerName val="0"/>
            <c:showPercent val="0"/>
            <c:showBubbleSize val="0"/>
            <c:showLeaderLines val="0"/>
          </c:dLbls>
          <c:cat>
            <c:multiLvlStrRef>
              <c:f>Sheet1!$A$2:$A$6</c:f>
              <c:multiLvlStrCache>
                <c:ptCount val="5"/>
                <c:lvl>
                  <c:pt idx="0">
                    <c:v>55+</c:v>
                  </c:pt>
                  <c:pt idx="1">
                    <c:v>35-44</c:v>
                  </c:pt>
                  <c:pt idx="2">
                    <c:v>25-34</c:v>
                  </c:pt>
                  <c:pt idx="3">
                    <c:v>45-54</c:v>
                  </c:pt>
                  <c:pt idx="4">
                    <c:v>18-24</c:v>
                  </c:pt>
                </c:lvl>
              </c:multiLvlStrCache>
            </c:multiLvlStrRef>
          </c:cat>
          <c:val>
            <c:numRef>
              <c:f>Sheet1!$B$2:$B$6</c:f>
              <c:numCache>
                <c:formatCode>General</c:formatCode>
                <c:ptCount val="5"/>
                <c:pt idx="0">
                  <c:v>4.99</c:v>
                </c:pt>
                <c:pt idx="1">
                  <c:v>4.99</c:v>
                </c:pt>
                <c:pt idx="2">
                  <c:v>4.94</c:v>
                </c:pt>
                <c:pt idx="3">
                  <c:v>4.93</c:v>
                </c:pt>
                <c:pt idx="4">
                  <c:v>4.91</c:v>
                </c:pt>
              </c:numCache>
            </c:numRef>
          </c:val>
        </c:ser>
        <c:dLbls>
          <c:numFmt formatCode="#,##0" sourceLinked="0"/>
          <c:txPr>
            <a:bodyPr/>
            <a:lstStyle/>
            <a:p>
              <a:pPr>
                <a:defRPr b="0" i="0" strike="noStrike" sz="10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5.1"/>
          <c:min val="4.7"/>
        </c:scaling>
        <c:delete val="0"/>
        <c:axPos val="b"/>
        <c:majorGridlines>
          <c:spPr>
            <a:ln w="6350" cap="flat">
              <a:solidFill>
                <a:srgbClr val="E2EE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Low Usage</c:v>
                </c:pt>
              </c:strCache>
            </c:strRef>
          </c:tx>
          <c:spPr>
            <a:solidFill>
              <a:srgbClr val="02809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Education</c:v>
                  </c:pt>
                  <c:pt idx="1">
                    <c:v>Finance</c:v>
                  </c:pt>
                  <c:pt idx="2">
                    <c:v>Health</c:v>
                  </c:pt>
                  <c:pt idx="3">
                    <c:v>IT</c:v>
                  </c:pt>
                  <c:pt idx="4">
                    <c:v>Student</c:v>
                  </c:pt>
                  <c:pt idx="5">
                    <c:v>Unemployed</c:v>
                  </c:pt>
                </c:lvl>
              </c:multiLvlStrCache>
            </c:multiLvlStrRef>
          </c:cat>
          <c:val>
            <c:numRef>
              <c:f>Sheet1!$B$2:$B$7</c:f>
              <c:numCache>
                <c:formatCode>General</c:formatCode>
                <c:ptCount val="6"/>
                <c:pt idx="0">
                  <c:v>4.89</c:v>
                </c:pt>
                <c:pt idx="1">
                  <c:v>5</c:v>
                </c:pt>
                <c:pt idx="2">
                  <c:v>4.96</c:v>
                </c:pt>
                <c:pt idx="3">
                  <c:v>5</c:v>
                </c:pt>
                <c:pt idx="4">
                  <c:v>4.92</c:v>
                </c:pt>
                <c:pt idx="5">
                  <c:v>4.96</c:v>
                </c:pt>
              </c:numCache>
            </c:numRef>
          </c:val>
        </c:ser>
        <c:ser>
          <c:idx val="1"/>
          <c:order val="1"/>
          <c:tx>
            <c:strRef>
              <c:f>Sheet1!$C$1</c:f>
              <c:strCache>
                <c:ptCount val="1"/>
                <c:pt idx="0">
                  <c:v>Medium Usage</c:v>
                </c:pt>
              </c:strCache>
            </c:strRef>
          </c:tx>
          <c:spPr>
            <a:solidFill>
              <a:srgbClr val="00A89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Education</c:v>
                  </c:pt>
                  <c:pt idx="1">
                    <c:v>Finance</c:v>
                  </c:pt>
                  <c:pt idx="2">
                    <c:v>Health</c:v>
                  </c:pt>
                  <c:pt idx="3">
                    <c:v>IT</c:v>
                  </c:pt>
                  <c:pt idx="4">
                    <c:v>Student</c:v>
                  </c:pt>
                  <c:pt idx="5">
                    <c:v>Unemployed</c:v>
                  </c:pt>
                </c:lvl>
              </c:multiLvlStrCache>
            </c:multiLvlStrRef>
          </c:cat>
          <c:val>
            <c:numRef>
              <c:f>Sheet1!$C$2:$C$7</c:f>
              <c:numCache>
                <c:formatCode>General</c:formatCode>
                <c:ptCount val="6"/>
                <c:pt idx="0">
                  <c:v>4.95</c:v>
                </c:pt>
                <c:pt idx="1">
                  <c:v>4.93</c:v>
                </c:pt>
                <c:pt idx="2">
                  <c:v>4.93</c:v>
                </c:pt>
                <c:pt idx="3">
                  <c:v>5</c:v>
                </c:pt>
                <c:pt idx="4">
                  <c:v>4.96</c:v>
                </c:pt>
                <c:pt idx="5">
                  <c:v>4.99</c:v>
                </c:pt>
              </c:numCache>
            </c:numRef>
          </c:val>
        </c:ser>
        <c:ser>
          <c:idx val="2"/>
          <c:order val="2"/>
          <c:tx>
            <c:strRef>
              <c:f>Sheet1!$D$1</c:f>
              <c:strCache>
                <c:ptCount val="1"/>
                <c:pt idx="0">
                  <c:v>High Usage</c:v>
                </c:pt>
              </c:strCache>
            </c:strRef>
          </c:tx>
          <c:spPr>
            <a:solidFill>
              <a:srgbClr val="02C39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Education</c:v>
                  </c:pt>
                  <c:pt idx="1">
                    <c:v>Finance</c:v>
                  </c:pt>
                  <c:pt idx="2">
                    <c:v>Health</c:v>
                  </c:pt>
                  <c:pt idx="3">
                    <c:v>IT</c:v>
                  </c:pt>
                  <c:pt idx="4">
                    <c:v>Student</c:v>
                  </c:pt>
                  <c:pt idx="5">
                    <c:v>Unemployed</c:v>
                  </c:pt>
                </c:lvl>
              </c:multiLvlStrCache>
            </c:multiLvlStrRef>
          </c:cat>
          <c:val>
            <c:numRef>
              <c:f>Sheet1!$D$2:$D$7</c:f>
              <c:numCache>
                <c:formatCode>General</c:formatCode>
                <c:ptCount val="6"/>
                <c:pt idx="0">
                  <c:v>4.96</c:v>
                </c:pt>
                <c:pt idx="1">
                  <c:v>4.97</c:v>
                </c:pt>
                <c:pt idx="2">
                  <c:v>4.93</c:v>
                </c:pt>
                <c:pt idx="3">
                  <c:v>5.02</c:v>
                </c:pt>
                <c:pt idx="4">
                  <c:v>4.81</c:v>
                </c:pt>
                <c:pt idx="5">
                  <c:v>5.03</c:v>
                </c:pt>
              </c:numCache>
            </c:numRef>
          </c:val>
        </c:ser>
        <c:ser>
          <c:idx val="3"/>
          <c:order val="3"/>
          <c:tx>
            <c:strRef>
              <c:f>Sheet1!$E$1</c:f>
              <c:strCache>
                <c:ptCount val="1"/>
                <c:pt idx="0">
                  <c:v>Very High Usage</c:v>
                </c:pt>
              </c:strCache>
            </c:strRef>
          </c:tx>
          <c:spPr>
            <a:solidFill>
              <a:srgbClr val="9AD8C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Education</c:v>
                  </c:pt>
                  <c:pt idx="1">
                    <c:v>Finance</c:v>
                  </c:pt>
                  <c:pt idx="2">
                    <c:v>Health</c:v>
                  </c:pt>
                  <c:pt idx="3">
                    <c:v>IT</c:v>
                  </c:pt>
                  <c:pt idx="4">
                    <c:v>Student</c:v>
                  </c:pt>
                  <c:pt idx="5">
                    <c:v>Unemployed</c:v>
                  </c:pt>
                </c:lvl>
              </c:multiLvlStrCache>
            </c:multiLvlStrRef>
          </c:cat>
          <c:val>
            <c:numRef>
              <c:f>Sheet1!$E$2:$E$7</c:f>
              <c:numCache>
                <c:formatCode>General</c:formatCode>
                <c:ptCount val="6"/>
                <c:pt idx="0">
                  <c:v>4.86</c:v>
                </c:pt>
                <c:pt idx="1">
                  <c:v>5.01</c:v>
                </c:pt>
                <c:pt idx="2">
                  <c:v>4.75</c:v>
                </c:pt>
                <c:pt idx="3">
                  <c:v>4.97</c:v>
                </c:pt>
                <c:pt idx="4">
                  <c:v>4.88</c:v>
                </c:pt>
                <c:pt idx="5">
                  <c:v>4.85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B3A4B"/>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Job Satisfaction (Sum)</c:v>
                </c:pt>
              </c:strCache>
            </c:strRef>
          </c:tx>
          <c:spPr>
            <a:solidFill>
              <a:srgbClr val="028090"/>
            </a:solidFill>
            <a:ln w="38100" cap="flat">
              <a:solidFill>
                <a:srgbClr val="0280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8090"/>
              </a:solidFill>
              <a:ln w="9525" cap="flat">
                <a:solidFill>
                  <a:srgbClr val="028090"/>
                </a:solidFill>
                <a:prstDash val="solid"/>
                <a:round/>
              </a:ln>
              <a:effectLst/>
            </c:spPr>
          </c:marker>
          <c:cat>
            <c:multiLvlStrRef>
              <c:f>Sheet1!$A$2:$A$5</c:f>
              <c:multiLvlStrCache>
                <c:ptCount val="4"/>
                <c:lvl>
                  <c:pt idx="0">
                    <c:v>Low Usage</c:v>
                  </c:pt>
                  <c:pt idx="1">
                    <c:v>Medium Usage</c:v>
                  </c:pt>
                  <c:pt idx="2">
                    <c:v>High Usage</c:v>
                  </c:pt>
                  <c:pt idx="3">
                    <c:v>Very High Usage</c:v>
                  </c:pt>
                </c:lvl>
              </c:multiLvlStrCache>
            </c:multiLvlStrRef>
          </c:cat>
          <c:val>
            <c:numRef>
              <c:f>Sheet1!$B$2:$B$5</c:f>
              <c:numCache>
                <c:formatCode>General</c:formatCode>
                <c:ptCount val="4"/>
                <c:pt idx="0">
                  <c:v>41759</c:v>
                </c:pt>
                <c:pt idx="1">
                  <c:v>64791</c:v>
                </c:pt>
                <c:pt idx="2">
                  <c:v>32991</c:v>
                </c:pt>
                <c:pt idx="3">
                  <c:v>9366</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Gap (Perceived − Actual)</c:v>
                </c:pt>
              </c:strCache>
            </c:strRef>
          </c:tx>
          <c:spPr>
            <a:solidFill>
              <a:srgbClr val="00A896"/>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Sheet1!$A$2:$A$5</c:f>
              <c:multiLvlStrCache>
                <c:ptCount val="4"/>
                <c:lvl>
                  <c:pt idx="0">
                    <c:v>Low</c:v>
                  </c:pt>
                  <c:pt idx="1">
                    <c:v>Medium</c:v>
                  </c:pt>
                  <c:pt idx="2">
                    <c:v>High</c:v>
                  </c:pt>
                  <c:pt idx="3">
                    <c:v>Very High</c:v>
                  </c:pt>
                </c:lvl>
              </c:multiLvlStrCache>
            </c:multiLvlStrRef>
          </c:cat>
          <c:val>
            <c:numRef>
              <c:f>Sheet1!$B$2:$B$5</c:f>
              <c:numCache>
                <c:formatCode>General</c:formatCode>
                <c:ptCount val="4"/>
                <c:pt idx="0">
                  <c:v>0.568</c:v>
                </c:pt>
                <c:pt idx="1">
                  <c:v>0.56</c:v>
                </c:pt>
                <c:pt idx="2">
                  <c:v>0.549</c:v>
                </c:pt>
                <c:pt idx="3">
                  <c:v>0.562</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0.6"/>
          <c:min val="0.5"/>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Stress</c:v>
                </c:pt>
              </c:strCache>
            </c:strRef>
          </c:tx>
          <c:spPr>
            <a:solidFill>
              <a:srgbClr val="028090"/>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Sheet1!$A$2:$A$4</c:f>
              <c:multiLvlStrCache>
                <c:ptCount val="3"/>
                <c:lvl>
                  <c:pt idx="0">
                    <c:v>Medium (21-50)</c:v>
                  </c:pt>
                  <c:pt idx="1">
                    <c:v>High (51-80)</c:v>
                  </c:pt>
                  <c:pt idx="2">
                    <c:v>Very High (80+)</c:v>
                  </c:pt>
                </c:lvl>
              </c:multiLvlStrCache>
            </c:multiLvlStrRef>
          </c:cat>
          <c:val>
            <c:numRef>
              <c:f>Sheet1!$B$2:$B$4</c:f>
              <c:numCache>
                <c:formatCode>General</c:formatCode>
                <c:ptCount val="3"/>
                <c:pt idx="0">
                  <c:v>5.52</c:v>
                </c:pt>
                <c:pt idx="1">
                  <c:v>5.55</c:v>
                </c:pt>
                <c:pt idx="2">
                  <c:v>5.27</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5.7"/>
          <c:min val="5"/>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Focus Apps</c:v>
                </c:pt>
              </c:strCache>
            </c:strRef>
          </c:tx>
          <c:spPr>
            <a:solidFill>
              <a:schemeClr val="accent1"/>
            </a:solidFill>
            <a:ln w="9525" cap="flat">
              <a:solidFill>
                <a:srgbClr val="F9F9F9"/>
              </a:solidFill>
              <a:prstDash val="solid"/>
              <a:round/>
            </a:ln>
            <a:effectLst/>
          </c:spPr>
          <c:dPt>
            <c:idx val="0"/>
            <c:bubble3D val="0"/>
            <c:spPr>
              <a:solidFill>
                <a:srgbClr val="2C4A5E"/>
              </a:solidFill>
              <a:effectLst/>
            </c:spPr>
          </c:dPt>
          <c:dPt>
            <c:idx val="1"/>
            <c:bubble3D val="0"/>
            <c:spPr>
              <a:solidFill>
                <a:srgbClr val="02C39A"/>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Doesn't Use</c:v>
                </c:pt>
                <c:pt idx="1">
                  <c:v>Uses Focus Apps</c:v>
                </c:pt>
              </c:strCache>
            </c:strRef>
          </c:cat>
          <c:val>
            <c:numRef>
              <c:f>Sheet1!$B$2:$B$3</c:f>
              <c:numCache>
                <c:ptCount val="2"/>
                <c:pt idx="0">
                  <c:v>20979</c:v>
                </c:pt>
                <c:pt idx="1">
                  <c:v>9021</c:v>
                </c:pt>
              </c:numCache>
            </c:numRef>
          </c:val>
        </c:ser>
        <c:firstSliceAng val="0"/>
        <c:holeSize val="50"/>
      </c:doughnutChart>
      <c:spPr>
        <a:noFill/>
        <a:ln>
          <a:noFill/>
        </a:ln>
        <a:effectLst/>
      </c:spPr>
    </c:plotArea>
    <c:legend>
      <c:legendPos val="b"/>
      <c:overlay val="0"/>
      <c:txPr>
        <a:bodyPr/>
        <a:lstStyle/>
        <a:p>
          <a:pPr>
            <a:defRPr sz="900">
              <a:solidFill>
                <a:srgbClr val="1B3A4B"/>
              </a:solidFill>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Users</c:v>
                </c:pt>
              </c:strCache>
            </c:strRef>
          </c:tx>
          <c:spPr>
            <a:solidFill>
              <a:srgbClr val="028090"/>
            </a:solidFill>
            <a:effectLst/>
          </c:spPr>
          <c:invertIfNegative val="0"/>
          <c:dLbls>
            <c:numFmt formatCode="#,##0" sourceLinked="0"/>
            <c:txPr>
              <a:bodyPr/>
              <a:lstStyle/>
              <a:p>
                <a:pPr>
                  <a:defRPr b="0" i="0" strike="noStrike" sz="1000" u="none">
                    <a:solidFill>
                      <a:srgbClr val="1B3A4B"/>
                    </a:solidFill>
                    <a:latin typeface="Arial"/>
                  </a:defRPr>
                </a:pPr>
              </a:p>
            </c:txPr>
            <c:showLegendKey val="0"/>
            <c:showVal val="1"/>
            <c:showCatName val="0"/>
            <c:showSerName val="0"/>
            <c:showPercent val="0"/>
            <c:showBubbleSize val="0"/>
            <c:showLeaderLines val="0"/>
          </c:dLbls>
          <c:cat>
            <c:multiLvlStrRef>
              <c:f>Sheet1!$A$2:$A$4</c:f>
              <c:multiLvlStrCache>
                <c:ptCount val="3"/>
                <c:lvl>
                  <c:pt idx="0">
                    <c:v>High (51-80)</c:v>
                  </c:pt>
                  <c:pt idx="1">
                    <c:v>Medium (21-50)</c:v>
                  </c:pt>
                  <c:pt idx="2">
                    <c:v>Very High (80+)</c:v>
                  </c:pt>
                </c:lvl>
              </c:multiLvlStrCache>
            </c:multiLvlStrRef>
          </c:cat>
          <c:val>
            <c:numRef>
              <c:f>Sheet1!$B$2:$B$4</c:f>
              <c:numCache>
                <c:formatCode>General</c:formatCode>
                <c:ptCount val="3"/>
                <c:pt idx="0">
                  <c:v>26595</c:v>
                </c:pt>
                <c:pt idx="1">
                  <c:v>3228</c:v>
                </c:pt>
                <c:pt idx="2">
                  <c:v>177</c:v>
                </c:pt>
              </c:numCache>
            </c:numRef>
          </c:val>
        </c:ser>
        <c:dLbls>
          <c:numFmt formatCode="#,##0" sourceLinked="0"/>
          <c:txPr>
            <a:bodyPr/>
            <a:lstStyle/>
            <a:p>
              <a:pPr>
                <a:defRPr b="0" i="0" strike="noStrike" sz="10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Avg Productivity</c:v>
                </c:pt>
              </c:strCache>
            </c:strRef>
          </c:tx>
          <c:spPr>
            <a:solidFill>
              <a:srgbClr val="028090"/>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Sheet1!$A$2:$A$5</c:f>
              <c:multiLvlStrCache>
                <c:ptCount val="4"/>
                <c:lvl>
                  <c:pt idx="0">
                    <c:v>Very Low Offline</c:v>
                  </c:pt>
                  <c:pt idx="1">
                    <c:v>Low Offline</c:v>
                  </c:pt>
                  <c:pt idx="2">
                    <c:v>Medium Offline</c:v>
                  </c:pt>
                  <c:pt idx="3">
                    <c:v>High Offline</c:v>
                  </c:pt>
                </c:lvl>
              </c:multiLvlStrCache>
            </c:multiLvlStrRef>
          </c:cat>
          <c:val>
            <c:numRef>
              <c:f>Sheet1!$B$2:$B$5</c:f>
              <c:numCache>
                <c:formatCode>General</c:formatCode>
                <c:ptCount val="4"/>
                <c:pt idx="0">
                  <c:v>4.96</c:v>
                </c:pt>
                <c:pt idx="1">
                  <c:v>4.96</c:v>
                </c:pt>
                <c:pt idx="2">
                  <c:v>4.93</c:v>
                </c:pt>
                <c:pt idx="3">
                  <c:v>4.94</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5.1"/>
          <c:min val="4.7"/>
        </c:scaling>
        <c:delete val="0"/>
        <c:axPos val="b"/>
        <c:majorGridlines>
          <c:spPr>
            <a:ln w="6350" cap="flat">
              <a:solidFill>
                <a:srgbClr val="E2EE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Avg Productivity</c:v>
                </c:pt>
              </c:strCache>
            </c:strRef>
          </c:tx>
          <c:spPr>
            <a:solidFill>
              <a:srgbClr val="00A896"/>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Sheet1!$A$2:$A$4</c:f>
              <c:multiLvlStrCache>
                <c:ptCount val="3"/>
                <c:lvl>
                  <c:pt idx="0">
                    <c:v>Normal</c:v>
                  </c:pt>
                  <c:pt idx="1">
                    <c:v>Overworked</c:v>
                  </c:pt>
                  <c:pt idx="2">
                    <c:v>Short</c:v>
                  </c:pt>
                </c:lvl>
              </c:multiLvlStrCache>
            </c:multiLvlStrRef>
          </c:cat>
          <c:val>
            <c:numRef>
              <c:f>Sheet1!$B$2:$B$4</c:f>
              <c:numCache>
                <c:formatCode>General</c:formatCode>
                <c:ptCount val="3"/>
                <c:pt idx="0">
                  <c:v>4.96</c:v>
                </c:pt>
                <c:pt idx="1">
                  <c:v>4.94</c:v>
                </c:pt>
                <c:pt idx="2">
                  <c:v>4.94</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5.1"/>
          <c:min val="4.7"/>
        </c:scaling>
        <c:delete val="0"/>
        <c:axPos val="b"/>
        <c:majorGridlines>
          <c:spPr>
            <a:ln w="6350" cap="flat">
              <a:solidFill>
                <a:srgbClr val="E2EE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Productivity</c:v>
                </c:pt>
              </c:strCache>
            </c:strRef>
          </c:tx>
          <c:spPr>
            <a:solidFill>
              <a:srgbClr val="02C39A"/>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Sheet1!$A$2:$A$4</c:f>
              <c:multiLvlStrCache>
                <c:ptCount val="3"/>
                <c:lvl>
                  <c:pt idx="0">
                    <c:v>Low Satisfaction</c:v>
                  </c:pt>
                  <c:pt idx="1">
                    <c:v>Medium Satisfaction</c:v>
                  </c:pt>
                  <c:pt idx="2">
                    <c:v>High Satisfaction</c:v>
                  </c:pt>
                </c:lvl>
              </c:multiLvlStrCache>
            </c:multiLvlStrRef>
          </c:cat>
          <c:val>
            <c:numRef>
              <c:f>Sheet1!$B$2:$B$4</c:f>
              <c:numCache>
                <c:formatCode>General</c:formatCode>
                <c:ptCount val="3"/>
                <c:pt idx="0">
                  <c:v>3.2</c:v>
                </c:pt>
                <c:pt idx="1">
                  <c:v>5.3</c:v>
                </c:pt>
                <c:pt idx="2">
                  <c:v>7.09</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Gap (Perceived − Actual)</c:v>
                </c:pt>
              </c:strCache>
            </c:strRef>
          </c:tx>
          <c:spPr>
            <a:solidFill>
              <a:srgbClr val="028090"/>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Sheet1!$A$2:$A$7</c:f>
              <c:multiLvlStrCache>
                <c:ptCount val="6"/>
                <c:lvl>
                  <c:pt idx="0">
                    <c:v>Student</c:v>
                  </c:pt>
                  <c:pt idx="1">
                    <c:v>Education</c:v>
                  </c:pt>
                  <c:pt idx="2">
                    <c:v>IT</c:v>
                  </c:pt>
                  <c:pt idx="3">
                    <c:v>Health</c:v>
                  </c:pt>
                  <c:pt idx="4">
                    <c:v>Unemployed</c:v>
                  </c:pt>
                  <c:pt idx="5">
                    <c:v>Finance</c:v>
                  </c:pt>
                </c:lvl>
              </c:multiLvlStrCache>
            </c:multiLvlStrRef>
          </c:cat>
          <c:val>
            <c:numRef>
              <c:f>Sheet1!$B$2:$B$7</c:f>
              <c:numCache>
                <c:formatCode>General</c:formatCode>
                <c:ptCount val="6"/>
                <c:pt idx="0">
                  <c:v>0.57</c:v>
                </c:pt>
                <c:pt idx="1">
                  <c:v>0.56</c:v>
                </c:pt>
                <c:pt idx="2">
                  <c:v>0.56</c:v>
                </c:pt>
                <c:pt idx="3">
                  <c:v>0.56</c:v>
                </c:pt>
                <c:pt idx="4">
                  <c:v>0.56</c:v>
                </c:pt>
                <c:pt idx="5">
                  <c:v>0.54</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0.6"/>
          <c:min val="0.5"/>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Productivity</c:v>
                </c:pt>
              </c:strCache>
            </c:strRef>
          </c:tx>
          <c:spPr>
            <a:solidFill>
              <a:srgbClr val="028090"/>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Sheet1!$A$2:$A$5</c:f>
              <c:multiLvlStrCache>
                <c:ptCount val="4"/>
                <c:lvl>
                  <c:pt idx="0">
                    <c:v>High Sleep</c:v>
                  </c:pt>
                  <c:pt idx="1">
                    <c:v>Low Sleep</c:v>
                  </c:pt>
                  <c:pt idx="2">
                    <c:v>Normal Sleep</c:v>
                  </c:pt>
                  <c:pt idx="3">
                    <c:v>Very Low Sleep</c:v>
                  </c:pt>
                </c:lvl>
              </c:multiLvlStrCache>
            </c:multiLvlStrRef>
          </c:cat>
          <c:val>
            <c:numRef>
              <c:f>Sheet1!$B$2:$B$5</c:f>
              <c:numCache>
                <c:formatCode>General</c:formatCode>
                <c:ptCount val="4"/>
                <c:pt idx="0">
                  <c:v>4.92</c:v>
                </c:pt>
                <c:pt idx="1">
                  <c:v>4.94</c:v>
                </c:pt>
                <c:pt idx="2">
                  <c:v>4.96</c:v>
                </c:pt>
                <c:pt idx="3">
                  <c:v>4.98</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5.05"/>
          <c:min val="4.8"/>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Gap (Perceived − Actual)</c:v>
                </c:pt>
              </c:strCache>
            </c:strRef>
          </c:tx>
          <c:spPr>
            <a:solidFill>
              <a:srgbClr val="02C39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Normal Sleep</c:v>
                  </c:pt>
                  <c:pt idx="1">
                    <c:v>High Sleep</c:v>
                  </c:pt>
                  <c:pt idx="2">
                    <c:v>Low Sleep</c:v>
                  </c:pt>
                  <c:pt idx="3">
                    <c:v>Very Low Sleep</c:v>
                  </c:pt>
                </c:lvl>
              </c:multiLvlStrCache>
            </c:multiLvlStrRef>
          </c:cat>
          <c:val>
            <c:numRef>
              <c:f>Sheet1!$B$2:$B$5</c:f>
              <c:numCache>
                <c:formatCode>General</c:formatCode>
                <c:ptCount val="4"/>
                <c:pt idx="0">
                  <c:v>0.546</c:v>
                </c:pt>
                <c:pt idx="1">
                  <c:v>0.557</c:v>
                </c:pt>
                <c:pt idx="2">
                  <c:v>0.567</c:v>
                </c:pt>
                <c:pt idx="3">
                  <c:v>0.588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Burnout Days / Month</c:v>
                </c:pt>
              </c:strCache>
            </c:strRef>
          </c:tx>
          <c:spPr>
            <a:solidFill>
              <a:srgbClr val="00A896"/>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Sheet1!$A$2:$A$5</c:f>
              <c:multiLvlStrCache>
                <c:ptCount val="4"/>
                <c:lvl>
                  <c:pt idx="0">
                    <c:v>High Sleep</c:v>
                  </c:pt>
                  <c:pt idx="1">
                    <c:v>Very Low Sleep</c:v>
                  </c:pt>
                  <c:pt idx="2">
                    <c:v>Normal Sleep</c:v>
                  </c:pt>
                  <c:pt idx="3">
                    <c:v>Low Sleep</c:v>
                  </c:pt>
                </c:lvl>
              </c:multiLvlStrCache>
            </c:multiLvlStrRef>
          </c:cat>
          <c:val>
            <c:numRef>
              <c:f>Sheet1!$B$2:$B$5</c:f>
              <c:numCache>
                <c:formatCode>General</c:formatCode>
                <c:ptCount val="4"/>
                <c:pt idx="0">
                  <c:v>15.24</c:v>
                </c:pt>
                <c:pt idx="1">
                  <c:v>15.43</c:v>
                </c:pt>
                <c:pt idx="2">
                  <c:v>15.63</c:v>
                </c:pt>
                <c:pt idx="3">
                  <c:v>15.66</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16"/>
          <c:min val="14.5"/>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Avg Job Satisfaction</c:v>
                </c:pt>
              </c:strCache>
            </c:strRef>
          </c:tx>
          <c:spPr>
            <a:solidFill>
              <a:srgbClr val="028090"/>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Sheet1!$A$2:$A$5</c:f>
              <c:multiLvlStrCache>
                <c:ptCount val="4"/>
                <c:lvl>
                  <c:pt idx="0">
                    <c:v>Very Low Offline</c:v>
                  </c:pt>
                  <c:pt idx="1">
                    <c:v>High Offline</c:v>
                  </c:pt>
                  <c:pt idx="2">
                    <c:v>Low Offline</c:v>
                  </c:pt>
                  <c:pt idx="3">
                    <c:v>Medium Offline</c:v>
                  </c:pt>
                </c:lvl>
              </c:multiLvlStrCache>
            </c:multiLvlStrRef>
          </c:cat>
          <c:val>
            <c:numRef>
              <c:f>Sheet1!$B$2:$B$5</c:f>
              <c:numCache>
                <c:formatCode>General</c:formatCode>
                <c:ptCount val="4"/>
                <c:pt idx="0">
                  <c:v>4.98</c:v>
                </c:pt>
                <c:pt idx="1">
                  <c:v>4.96</c:v>
                </c:pt>
                <c:pt idx="2">
                  <c:v>4.96</c:v>
                </c:pt>
                <c:pt idx="3">
                  <c:v>4.95</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5.05"/>
          <c:min val="4.85"/>
        </c:scaling>
        <c:delete val="0"/>
        <c:axPos val="b"/>
        <c:majorGridlines>
          <c:spPr>
            <a:ln w="6350" cap="flat">
              <a:solidFill>
                <a:srgbClr val="E2EE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Avg Stress</c:v>
                </c:pt>
              </c:strCache>
            </c:strRef>
          </c:tx>
          <c:spPr>
            <a:solidFill>
              <a:srgbClr val="028090"/>
            </a:solidFill>
            <a:ln w="38100" cap="flat">
              <a:solidFill>
                <a:srgbClr val="0280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8090"/>
              </a:solidFill>
              <a:ln w="9525" cap="flat">
                <a:solidFill>
                  <a:srgbClr val="028090"/>
                </a:solidFill>
                <a:prstDash val="solid"/>
                <a:round/>
              </a:ln>
              <a:effectLst/>
            </c:spPr>
          </c:marker>
          <c:cat>
            <c:multiLvlStrRef>
              <c:f>Sheet1!$A$2:$A$5</c:f>
              <c:multiLvlStrCache>
                <c:ptCount val="4"/>
                <c:lvl>
                  <c:pt idx="0">
                    <c:v>Normal Sleep</c:v>
                  </c:pt>
                  <c:pt idx="1">
                    <c:v>Low Sleep</c:v>
                  </c:pt>
                  <c:pt idx="2">
                    <c:v>Very Low Sleep</c:v>
                  </c:pt>
                  <c:pt idx="3">
                    <c:v>High Sleep</c:v>
                  </c:pt>
                </c:lvl>
              </c:multiLvlStrCache>
            </c:multiLvlStrRef>
          </c:cat>
          <c:val>
            <c:numRef>
              <c:f>Sheet1!$B$2:$B$5</c:f>
              <c:numCache>
                <c:formatCode>General</c:formatCode>
                <c:ptCount val="4"/>
                <c:pt idx="0">
                  <c:v>5.53</c:v>
                </c:pt>
                <c:pt idx="1">
                  <c:v>5.55</c:v>
                </c:pt>
                <c:pt idx="2">
                  <c:v>5.54</c:v>
                </c:pt>
                <c:pt idx="3">
                  <c:v>5.57</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5.65"/>
          <c:min val="5.4"/>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Job Satisfaction</c:v>
                </c:pt>
              </c:strCache>
            </c:strRef>
          </c:tx>
          <c:spPr>
            <a:solidFill>
              <a:srgbClr val="028090"/>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Sheet1!$A$2:$A$4</c:f>
              <c:multiLvlStrCache>
                <c:ptCount val="3"/>
                <c:lvl>
                  <c:pt idx="0">
                    <c:v>Low Stress</c:v>
                  </c:pt>
                  <c:pt idx="1">
                    <c:v>High Stress</c:v>
                  </c:pt>
                  <c:pt idx="2">
                    <c:v>Medium Stress</c:v>
                  </c:pt>
                </c:lvl>
              </c:multiLvlStrCache>
            </c:multiLvlStrRef>
          </c:cat>
          <c:val>
            <c:numRef>
              <c:f>Sheet1!$B$2:$B$4</c:f>
              <c:numCache>
                <c:formatCode>General</c:formatCode>
                <c:ptCount val="3"/>
                <c:pt idx="0">
                  <c:v>4.95</c:v>
                </c:pt>
                <c:pt idx="1">
                  <c:v>4.95</c:v>
                </c:pt>
                <c:pt idx="2">
                  <c:v>4.98</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5.05"/>
          <c:min val="4.85"/>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Social Media Time (hrs)</c:v>
                </c:pt>
              </c:strCache>
            </c:strRef>
          </c:tx>
          <c:spPr>
            <a:solidFill>
              <a:srgbClr val="00A896"/>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Sheet1!$A$2:$A$4</c:f>
              <c:multiLvlStrCache>
                <c:ptCount val="3"/>
                <c:lvl>
                  <c:pt idx="0">
                    <c:v>High Stress</c:v>
                  </c:pt>
                  <c:pt idx="1">
                    <c:v>Low Stress</c:v>
                  </c:pt>
                  <c:pt idx="2">
                    <c:v>Medium Stress</c:v>
                  </c:pt>
                </c:lvl>
              </c:multiLvlStrCache>
            </c:multiLvlStrRef>
          </c:cat>
          <c:val>
            <c:numRef>
              <c:f>Sheet1!$B$2:$B$4</c:f>
              <c:numCache>
                <c:formatCode>General</c:formatCode>
                <c:ptCount val="3"/>
                <c:pt idx="0">
                  <c:v>3.09</c:v>
                </c:pt>
                <c:pt idx="1">
                  <c:v>3.1</c:v>
                </c:pt>
                <c:pt idx="2">
                  <c:v>3.13</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3.2"/>
          <c:min val="3"/>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Productivity (/10)</c:v>
                </c:pt>
              </c:strCache>
            </c:strRef>
          </c:tx>
          <c:spPr>
            <a:solidFill>
              <a:srgbClr val="02809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Low Stress</c:v>
                  </c:pt>
                  <c:pt idx="1">
                    <c:v>Medium Stress</c:v>
                  </c:pt>
                  <c:pt idx="2">
                    <c:v>High Stress</c:v>
                  </c:pt>
                </c:lvl>
              </c:multiLvlStrCache>
            </c:multiLvlStrRef>
          </c:cat>
          <c:val>
            <c:numRef>
              <c:f>Sheet1!$B$2:$B$4</c:f>
              <c:numCache>
                <c:formatCode>General</c:formatCode>
                <c:ptCount val="3"/>
                <c:pt idx="0">
                  <c:v>4.95</c:v>
                </c:pt>
                <c:pt idx="1">
                  <c:v>4.96</c:v>
                </c:pt>
                <c:pt idx="2">
                  <c:v>4.95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Avg Burnout Days</c:v>
                </c:pt>
              </c:strCache>
            </c:strRef>
          </c:tx>
          <c:spPr>
            <a:solidFill>
              <a:srgbClr val="02C39A"/>
            </a:solidFill>
            <a:ln w="38100" cap="flat">
              <a:solidFill>
                <a:srgbClr val="02C39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C39A"/>
              </a:solidFill>
              <a:ln w="9525" cap="flat">
                <a:solidFill>
                  <a:srgbClr val="02C39A"/>
                </a:solidFill>
                <a:prstDash val="solid"/>
                <a:round/>
              </a:ln>
              <a:effectLst/>
            </c:spPr>
          </c:marker>
          <c:cat>
            <c:multiLvlStrRef>
              <c:f>Sheet1!$A$2:$A$4</c:f>
              <c:multiLvlStrCache>
                <c:ptCount val="3"/>
                <c:lvl>
                  <c:pt idx="0">
                    <c:v>Low Stress</c:v>
                  </c:pt>
                  <c:pt idx="1">
                    <c:v>Medium Stress</c:v>
                  </c:pt>
                  <c:pt idx="2">
                    <c:v>High Stress</c:v>
                  </c:pt>
                </c:lvl>
              </c:multiLvlStrCache>
            </c:multiLvlStrRef>
          </c:cat>
          <c:val>
            <c:numRef>
              <c:f>Sheet1!$C$2:$C$4</c:f>
              <c:numCache>
                <c:formatCode>General</c:formatCode>
                <c:ptCount val="3"/>
                <c:pt idx="0">
                  <c:v>15.59</c:v>
                </c:pt>
                <c:pt idx="1">
                  <c:v>15.52</c:v>
                </c:pt>
                <c:pt idx="2">
                  <c:v>15.57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5.3"/>
          <c:min val="4.5"/>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valAx>
        <c:axId val="2094734553"/>
        <c:scaling>
          <c:orientation val="minMax"/>
          <c:max val="5.3"/>
          <c:min val="4.5"/>
        </c:scaling>
        <c:delete val="0"/>
        <c:axPos val="r"/>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5"/>
        <c:crosses val="max"/>
        <c:crossBetween val="between"/>
      </c:valAx>
      <c:catAx>
        <c:axId val="2094734555"/>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000">
              <a:solidFill>
                <a:srgbClr val="1B3A4B"/>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Stress</c:v>
                </c:pt>
              </c:strCache>
            </c:strRef>
          </c:tx>
          <c:spPr>
            <a:solidFill>
              <a:srgbClr val="028090"/>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Sheet1!$A$2:$A$7</c:f>
              <c:multiLvlStrCache>
                <c:ptCount val="6"/>
                <c:lvl>
                  <c:pt idx="0">
                    <c:v>Finance</c:v>
                  </c:pt>
                  <c:pt idx="1">
                    <c:v>IT</c:v>
                  </c:pt>
                  <c:pt idx="2">
                    <c:v>Health</c:v>
                  </c:pt>
                  <c:pt idx="3">
                    <c:v>Education</c:v>
                  </c:pt>
                  <c:pt idx="4">
                    <c:v>Student</c:v>
                  </c:pt>
                  <c:pt idx="5">
                    <c:v>Unemployed</c:v>
                  </c:pt>
                </c:lvl>
              </c:multiLvlStrCache>
            </c:multiLvlStrRef>
          </c:cat>
          <c:val>
            <c:numRef>
              <c:f>Sheet1!$B$2:$B$7</c:f>
              <c:numCache>
                <c:formatCode>General</c:formatCode>
                <c:ptCount val="6"/>
                <c:pt idx="0">
                  <c:v>5.61</c:v>
                </c:pt>
                <c:pt idx="1">
                  <c:v>5.57</c:v>
                </c:pt>
                <c:pt idx="2">
                  <c:v>5.54</c:v>
                </c:pt>
                <c:pt idx="3">
                  <c:v>5.54</c:v>
                </c:pt>
                <c:pt idx="4">
                  <c:v>5.51</c:v>
                </c:pt>
                <c:pt idx="5">
                  <c:v>5.5</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5.75"/>
          <c:min val="5.3"/>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Gap (Perceived − Actual)</c:v>
                </c:pt>
              </c:strCache>
            </c:strRef>
          </c:tx>
          <c:spPr>
            <a:solidFill>
              <a:srgbClr val="00A896"/>
            </a:solidFill>
            <a:effectLst/>
          </c:spPr>
          <c:invertIfNegative val="0"/>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cat>
            <c:multiLvlStrRef>
              <c:f>Sheet1!$A$2:$A$4</c:f>
              <c:multiLvlStrCache>
                <c:ptCount val="3"/>
                <c:lvl>
                  <c:pt idx="0">
                    <c:v>Medium Stress</c:v>
                  </c:pt>
                  <c:pt idx="1">
                    <c:v>Low Stress</c:v>
                  </c:pt>
                  <c:pt idx="2">
                    <c:v>High Stress</c:v>
                  </c:pt>
                </c:lvl>
              </c:multiLvlStrCache>
            </c:multiLvlStrRef>
          </c:cat>
          <c:val>
            <c:numRef>
              <c:f>Sheet1!$B$2:$B$4</c:f>
              <c:numCache>
                <c:formatCode>General</c:formatCode>
                <c:ptCount val="3"/>
                <c:pt idx="0">
                  <c:v>0.551</c:v>
                </c:pt>
                <c:pt idx="1">
                  <c:v>0.561</c:v>
                </c:pt>
                <c:pt idx="2">
                  <c:v>0.567</c:v>
                </c:pt>
              </c:numCache>
            </c:numRef>
          </c:val>
        </c:ser>
        <c:dLbls>
          <c:numFmt formatCode="#,##0" sourceLinked="0"/>
          <c:txPr>
            <a:bodyPr/>
            <a:lstStyle/>
            <a:p>
              <a:pPr>
                <a:defRPr b="0" i="0" strike="noStrike" sz="900" u="none">
                  <a:solidFill>
                    <a:srgbClr val="1B3A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A85"/>
                </a:solidFill>
                <a:latin typeface="Arial"/>
              </a:defRPr>
            </a:pPr>
            <a:endParaRPr lang="en-US"/>
          </a:p>
        </c:txPr>
        <c:crossAx val="2094734552"/>
        <c:crosses val="autoZero"/>
        <c:auto val="1"/>
        <c:lblAlgn val="ctr"/>
        <c:noMultiLvlLbl val="1"/>
      </c:catAx>
      <c:valAx>
        <c:axId val="2094734552"/>
        <c:scaling>
          <c:orientation val="minMax"/>
          <c:max val="0.6"/>
          <c:min val="0.5"/>
        </c:scaling>
        <c:delete val="0"/>
        <c:axPos val="l"/>
        <c:majorGridlines>
          <c:spPr>
            <a:ln w="6350"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chart" Target="/ppt/charts/chart15.xm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chart" Target="/ppt/charts/chart17.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chart" Target="/ppt/charts/chart19.xm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chart" Target="/ppt/charts/chart22.xm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image" Target="../media/image-22-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chart" Target="/ppt/charts/chart25.xm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4B"/>
        </a:solidFill>
      </p:bgPr>
    </p:bg>
    <p:spTree>
      <p:nvGrpSpPr>
        <p:cNvPr id="1" name=""/>
        <p:cNvGrpSpPr/>
        <p:nvPr/>
      </p:nvGrpSpPr>
      <p:grpSpPr>
        <a:xfrm>
          <a:off x="0" y="0"/>
          <a:ext cx="0" cy="0"/>
          <a:chOff x="0" y="0"/>
          <a:chExt cx="0" cy="0"/>
        </a:xfrm>
      </p:grpSpPr>
      <p:sp>
        <p:nvSpPr>
          <p:cNvPr id="2" name="Shape 0"/>
          <p:cNvSpPr/>
          <p:nvPr/>
        </p:nvSpPr>
        <p:spPr>
          <a:xfrm>
            <a:off x="9418320" y="-1828800"/>
            <a:ext cx="5486400" cy="5486400"/>
          </a:xfrm>
          <a:prstGeom prst="ellipse">
            <a:avLst/>
          </a:prstGeom>
          <a:solidFill>
            <a:srgbClr val="2C4A5E"/>
          </a:solidFill>
          <a:ln/>
        </p:spPr>
      </p:sp>
      <p:sp>
        <p:nvSpPr>
          <p:cNvPr id="3" name="Shape 1"/>
          <p:cNvSpPr/>
          <p:nvPr/>
        </p:nvSpPr>
        <p:spPr>
          <a:xfrm>
            <a:off x="-2286000" y="4389120"/>
            <a:ext cx="4572000" cy="4572000"/>
          </a:xfrm>
          <a:prstGeom prst="ellipse">
            <a:avLst/>
          </a:prstGeom>
          <a:solidFill>
            <a:srgbClr val="2C4A5E"/>
          </a:solidFill>
          <a:ln/>
        </p:spPr>
      </p:sp>
      <p:sp>
        <p:nvSpPr>
          <p:cNvPr id="4" name="Text 2"/>
          <p:cNvSpPr/>
          <p:nvPr/>
        </p:nvSpPr>
        <p:spPr>
          <a:xfrm>
            <a:off x="822960" y="1371600"/>
            <a:ext cx="7315200" cy="365760"/>
          </a:xfrm>
          <a:prstGeom prst="rect">
            <a:avLst/>
          </a:prstGeom>
          <a:noFill/>
          <a:ln/>
        </p:spPr>
        <p:txBody>
          <a:bodyPr wrap="square"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DEPI GRADUATION PROJECT</a:t>
            </a:r>
            <a:endParaRPr lang="en-US" sz="1400" dirty="0"/>
          </a:p>
        </p:txBody>
      </p:sp>
      <p:sp>
        <p:nvSpPr>
          <p:cNvPr id="5" name="Text 3"/>
          <p:cNvSpPr/>
          <p:nvPr/>
        </p:nvSpPr>
        <p:spPr>
          <a:xfrm>
            <a:off x="822960" y="1828800"/>
            <a:ext cx="9601200" cy="10058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Digital Habits &amp; Wellbeing</a:t>
            </a:r>
            <a:endParaRPr lang="en-US" sz="4000" dirty="0"/>
          </a:p>
        </p:txBody>
      </p:sp>
      <p:sp>
        <p:nvSpPr>
          <p:cNvPr id="6" name="Text 4"/>
          <p:cNvSpPr/>
          <p:nvPr/>
        </p:nvSpPr>
        <p:spPr>
          <a:xfrm>
            <a:off x="822960" y="2743200"/>
            <a:ext cx="9601200" cy="548640"/>
          </a:xfrm>
          <a:prstGeom prst="rect">
            <a:avLst/>
          </a:prstGeom>
          <a:noFill/>
          <a:ln/>
        </p:spPr>
        <p:txBody>
          <a:bodyPr wrap="square" rtlCol="0" anchor="ctr"/>
          <a:lstStyle/>
          <a:p>
            <a:pPr indent="0" marL="0">
              <a:buNone/>
            </a:pPr>
            <a:r>
              <a:rPr lang="en-US" sz="1800" dirty="0">
                <a:solidFill>
                  <a:srgbClr val="CADCDC"/>
                </a:solidFill>
                <a:latin typeface="Calibri" pitchFamily="34" charset="0"/>
                <a:ea typeface="Calibri" pitchFamily="34" charset="-122"/>
                <a:cs typeface="Calibri" pitchFamily="34" charset="-120"/>
              </a:rPr>
              <a:t>Full Chart-by-Chart Breakdown of All 5 Dashboard Pages</a:t>
            </a:r>
            <a:endParaRPr lang="en-US" sz="1800" dirty="0"/>
          </a:p>
        </p:txBody>
      </p:sp>
      <p:sp>
        <p:nvSpPr>
          <p:cNvPr id="7" name="Shape 5"/>
          <p:cNvSpPr/>
          <p:nvPr/>
        </p:nvSpPr>
        <p:spPr>
          <a:xfrm>
            <a:off x="822960" y="3611880"/>
            <a:ext cx="2194560" cy="18288"/>
          </a:xfrm>
          <a:prstGeom prst="rect">
            <a:avLst/>
          </a:prstGeom>
          <a:solidFill>
            <a:srgbClr val="3E5D68"/>
          </a:solidFill>
          <a:ln/>
        </p:spPr>
      </p:sp>
      <p:sp>
        <p:nvSpPr>
          <p:cNvPr id="8" name="Text 6"/>
          <p:cNvSpPr/>
          <p:nvPr/>
        </p:nvSpPr>
        <p:spPr>
          <a:xfrm>
            <a:off x="822960" y="3931920"/>
            <a:ext cx="3108960" cy="548640"/>
          </a:xfrm>
          <a:prstGeom prst="rect">
            <a:avLst/>
          </a:prstGeom>
          <a:noFill/>
          <a:ln/>
        </p:spPr>
        <p:txBody>
          <a:bodyPr wrap="square" rtlCol="0" anchor="ctr"/>
          <a:lstStyle/>
          <a:p>
            <a:pPr indent="0" marL="0">
              <a:buNone/>
            </a:pPr>
            <a:r>
              <a:rPr lang="en-US" sz="2800" b="1" dirty="0">
                <a:solidFill>
                  <a:srgbClr val="02C39A"/>
                </a:solidFill>
                <a:latin typeface="Cambria" pitchFamily="34" charset="0"/>
                <a:ea typeface="Cambria" pitchFamily="34" charset="-122"/>
                <a:cs typeface="Cambria" pitchFamily="34" charset="-120"/>
              </a:rPr>
              <a:t>30,000</a:t>
            </a:r>
            <a:endParaRPr lang="en-US" sz="2800" dirty="0"/>
          </a:p>
        </p:txBody>
      </p:sp>
      <p:sp>
        <p:nvSpPr>
          <p:cNvPr id="9" name="Text 7"/>
          <p:cNvSpPr/>
          <p:nvPr/>
        </p:nvSpPr>
        <p:spPr>
          <a:xfrm>
            <a:off x="822960" y="4480560"/>
            <a:ext cx="3108960" cy="457200"/>
          </a:xfrm>
          <a:prstGeom prst="rect">
            <a:avLst/>
          </a:prstGeom>
          <a:noFill/>
          <a:ln/>
        </p:spPr>
        <p:txBody>
          <a:bodyPr wrap="square" rtlCol="0" anchor="ctr"/>
          <a:lstStyle/>
          <a:p>
            <a:pPr indent="0" marL="0">
              <a:buNone/>
            </a:pPr>
            <a:r>
              <a:rPr lang="en-US" sz="1100" dirty="0">
                <a:solidFill>
                  <a:srgbClr val="9FC9CF"/>
                </a:solidFill>
                <a:latin typeface="Calibri" pitchFamily="34" charset="0"/>
                <a:ea typeface="Calibri" pitchFamily="34" charset="-122"/>
                <a:cs typeface="Calibri" pitchFamily="34" charset="-120"/>
              </a:rPr>
              <a:t>Respondents</a:t>
            </a:r>
            <a:endParaRPr lang="en-US" sz="1100" dirty="0"/>
          </a:p>
        </p:txBody>
      </p:sp>
      <p:sp>
        <p:nvSpPr>
          <p:cNvPr id="10" name="Text 8"/>
          <p:cNvSpPr/>
          <p:nvPr/>
        </p:nvSpPr>
        <p:spPr>
          <a:xfrm>
            <a:off x="4206240" y="3931920"/>
            <a:ext cx="3108960" cy="548640"/>
          </a:xfrm>
          <a:prstGeom prst="rect">
            <a:avLst/>
          </a:prstGeom>
          <a:noFill/>
          <a:ln/>
        </p:spPr>
        <p:txBody>
          <a:bodyPr wrap="square" rtlCol="0" anchor="ctr"/>
          <a:lstStyle/>
          <a:p>
            <a:pPr indent="0" marL="0">
              <a:buNone/>
            </a:pPr>
            <a:r>
              <a:rPr lang="en-US" sz="2800" b="1" dirty="0">
                <a:solidFill>
                  <a:srgbClr val="02C39A"/>
                </a:solidFill>
                <a:latin typeface="Cambria" pitchFamily="34" charset="0"/>
                <a:ea typeface="Cambria" pitchFamily="34" charset="-122"/>
                <a:cs typeface="Cambria" pitchFamily="34" charset="-120"/>
              </a:rPr>
              <a:t>26</a:t>
            </a:r>
            <a:endParaRPr lang="en-US" sz="2800" dirty="0"/>
          </a:p>
        </p:txBody>
      </p:sp>
      <p:sp>
        <p:nvSpPr>
          <p:cNvPr id="11" name="Text 9"/>
          <p:cNvSpPr/>
          <p:nvPr/>
        </p:nvSpPr>
        <p:spPr>
          <a:xfrm>
            <a:off x="4206240" y="4480560"/>
            <a:ext cx="3108960" cy="457200"/>
          </a:xfrm>
          <a:prstGeom prst="rect">
            <a:avLst/>
          </a:prstGeom>
          <a:noFill/>
          <a:ln/>
        </p:spPr>
        <p:txBody>
          <a:bodyPr wrap="square" rtlCol="0" anchor="ctr"/>
          <a:lstStyle/>
          <a:p>
            <a:pPr indent="0" marL="0">
              <a:buNone/>
            </a:pPr>
            <a:r>
              <a:rPr lang="en-US" sz="1100" dirty="0">
                <a:solidFill>
                  <a:srgbClr val="9FC9CF"/>
                </a:solidFill>
                <a:latin typeface="Calibri" pitchFamily="34" charset="0"/>
                <a:ea typeface="Calibri" pitchFamily="34" charset="-122"/>
                <a:cs typeface="Calibri" pitchFamily="34" charset="-120"/>
              </a:rPr>
              <a:t>Charts Analyzed</a:t>
            </a:r>
            <a:endParaRPr lang="en-US" sz="1100" dirty="0"/>
          </a:p>
        </p:txBody>
      </p:sp>
      <p:sp>
        <p:nvSpPr>
          <p:cNvPr id="12" name="Text 10"/>
          <p:cNvSpPr/>
          <p:nvPr/>
        </p:nvSpPr>
        <p:spPr>
          <a:xfrm>
            <a:off x="7589520" y="3931920"/>
            <a:ext cx="3108960" cy="548640"/>
          </a:xfrm>
          <a:prstGeom prst="rect">
            <a:avLst/>
          </a:prstGeom>
          <a:noFill/>
          <a:ln/>
        </p:spPr>
        <p:txBody>
          <a:bodyPr wrap="square" rtlCol="0" anchor="ctr"/>
          <a:lstStyle/>
          <a:p>
            <a:pPr indent="0" marL="0">
              <a:buNone/>
            </a:pPr>
            <a:r>
              <a:rPr lang="en-US" sz="2800" b="1" dirty="0">
                <a:solidFill>
                  <a:srgbClr val="02C39A"/>
                </a:solidFill>
                <a:latin typeface="Cambria" pitchFamily="34" charset="0"/>
                <a:ea typeface="Cambria" pitchFamily="34" charset="-122"/>
                <a:cs typeface="Cambria" pitchFamily="34" charset="-120"/>
              </a:rPr>
              <a:t>5</a:t>
            </a:r>
            <a:endParaRPr lang="en-US" sz="2800" dirty="0"/>
          </a:p>
        </p:txBody>
      </p:sp>
      <p:sp>
        <p:nvSpPr>
          <p:cNvPr id="13" name="Text 11"/>
          <p:cNvSpPr/>
          <p:nvPr/>
        </p:nvSpPr>
        <p:spPr>
          <a:xfrm>
            <a:off x="7589520" y="4480560"/>
            <a:ext cx="3108960" cy="457200"/>
          </a:xfrm>
          <a:prstGeom prst="rect">
            <a:avLst/>
          </a:prstGeom>
          <a:noFill/>
          <a:ln/>
        </p:spPr>
        <p:txBody>
          <a:bodyPr wrap="square" rtlCol="0" anchor="ctr"/>
          <a:lstStyle/>
          <a:p>
            <a:pPr indent="0" marL="0">
              <a:buNone/>
            </a:pPr>
            <a:r>
              <a:rPr lang="en-US" sz="1100" dirty="0">
                <a:solidFill>
                  <a:srgbClr val="9FC9CF"/>
                </a:solidFill>
                <a:latin typeface="Calibri" pitchFamily="34" charset="0"/>
                <a:ea typeface="Calibri" pitchFamily="34" charset="-122"/>
                <a:cs typeface="Calibri" pitchFamily="34" charset="-120"/>
              </a:rPr>
              <a:t>Dashboard Pages</a:t>
            </a:r>
            <a:endParaRPr lang="en-US" sz="1100" dirty="0"/>
          </a:p>
        </p:txBody>
      </p:sp>
      <p:sp>
        <p:nvSpPr>
          <p:cNvPr id="14" name="Text 12"/>
          <p:cNvSpPr/>
          <p:nvPr/>
        </p:nvSpPr>
        <p:spPr>
          <a:xfrm>
            <a:off x="822960" y="6126480"/>
            <a:ext cx="5486400" cy="365760"/>
          </a:xfrm>
          <a:prstGeom prst="rect">
            <a:avLst/>
          </a:prstGeom>
          <a:noFill/>
          <a:ln/>
        </p:spPr>
        <p:txBody>
          <a:bodyPr wrap="square" rtlCol="0" anchor="ctr"/>
          <a:lstStyle/>
          <a:p>
            <a:pPr indent="0" marL="0">
              <a:buNone/>
            </a:pPr>
            <a:r>
              <a:rPr lang="en-US" sz="1100" i="1" dirty="0">
                <a:solidFill>
                  <a:srgbClr val="7FA6AE"/>
                </a:solidFill>
                <a:latin typeface="Calibri" pitchFamily="34" charset="0"/>
                <a:ea typeface="Calibri" pitchFamily="34" charset="-122"/>
                <a:cs typeface="Calibri" pitchFamily="34" charset="-120"/>
              </a:rPr>
              <a:t>Prepared for submission &amp; review session</a:t>
            </a:r>
            <a:endParaRPr lang="en-US" sz="1100" dirty="0"/>
          </a:p>
        </p:txBody>
      </p:sp>
      <p:sp>
        <p:nvSpPr>
          <p:cNvPr id="15" name="Text 13"/>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FC9CF"/>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6" name="Text 14"/>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9FC9CF"/>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Project Overview</a:t>
            </a:r>
            <a:endParaRPr lang="en-US" sz="2400" dirty="0"/>
          </a:p>
        </p:txBody>
      </p:sp>
      <p:sp>
        <p:nvSpPr>
          <p:cNvPr id="3" name="Shape 1"/>
          <p:cNvSpPr/>
          <p:nvPr/>
        </p:nvSpPr>
        <p:spPr>
          <a:xfrm>
            <a:off x="640080" y="1234440"/>
            <a:ext cx="10927080" cy="4160520"/>
          </a:xfrm>
          <a:prstGeom prst="roundRect">
            <a:avLst>
              <a:gd name="adj" fmla="val 2637"/>
            </a:avLst>
          </a:prstGeom>
          <a:solidFill>
            <a:srgbClr val="EFF8F7"/>
          </a:solidFill>
          <a:ln/>
          <a:effectLst>
            <a:outerShdw sx="100000" sy="100000" kx="0" ky="0" algn="bl" rotWithShape="0" blurRad="127000" dist="38100" dir="5400000">
              <a:srgbClr val="0B2530">
                <a:alpha val="12000"/>
              </a:srgbClr>
            </a:outerShdw>
          </a:effectLst>
        </p:spPr>
      </p:sp>
      <p:sp>
        <p:nvSpPr>
          <p:cNvPr id="4" name="Shape 2"/>
          <p:cNvSpPr/>
          <p:nvPr/>
        </p:nvSpPr>
        <p:spPr>
          <a:xfrm>
            <a:off x="960120" y="1554480"/>
            <a:ext cx="594360" cy="594360"/>
          </a:xfrm>
          <a:prstGeom prst="ellipse">
            <a:avLst/>
          </a:prstGeom>
          <a:solidFill>
            <a:srgbClr val="028090"/>
          </a:solidFill>
          <a:ln/>
        </p:spPr>
      </p:sp>
      <p:pic>
        <p:nvPicPr>
          <p:cNvPr id="5" name="Image 0" descr="/home/claude/deck/icons/bullseye_white.png">    </p:cNvPr>
          <p:cNvPicPr>
            <a:picLocks noChangeAspect="1"/>
          </p:cNvPicPr>
          <p:nvPr/>
        </p:nvPicPr>
        <p:blipFill>
          <a:blip r:embed="rId1"/>
          <a:stretch>
            <a:fillRect/>
          </a:stretch>
        </p:blipFill>
        <p:spPr>
          <a:xfrm>
            <a:off x="1102766" y="1697126"/>
            <a:ext cx="309067" cy="309067"/>
          </a:xfrm>
          <a:prstGeom prst="rect">
            <a:avLst/>
          </a:prstGeom>
        </p:spPr>
      </p:pic>
      <p:sp>
        <p:nvSpPr>
          <p:cNvPr id="6" name="Text 3"/>
          <p:cNvSpPr/>
          <p:nvPr/>
        </p:nvSpPr>
        <p:spPr>
          <a:xfrm>
            <a:off x="1737360" y="1417320"/>
            <a:ext cx="9509760" cy="3794760"/>
          </a:xfrm>
          <a:prstGeom prst="rect">
            <a:avLst/>
          </a:prstGeom>
          <a:noFill/>
          <a:ln/>
        </p:spPr>
        <p:txBody>
          <a:bodyPr wrap="square" rtlCol="0" anchor="t"/>
          <a:lstStyle/>
          <a:p>
            <a:pPr indent="0" marL="0">
              <a:lnSpc>
                <a:spcPct val="130000"/>
              </a:lnSpc>
              <a:buNone/>
            </a:pPr>
            <a:r>
              <a:rPr lang="en-US" sz="1500" dirty="0">
                <a:solidFill>
                  <a:srgbClr val="1B3A4B"/>
                </a:solidFill>
                <a:latin typeface="Calibri" pitchFamily="34" charset="0"/>
                <a:ea typeface="Calibri" pitchFamily="34" charset="-122"/>
                <a:cs typeface="Calibri" pitchFamily="34" charset="-120"/>
              </a:rPr>
              <a:t>In today's digital world, social media has become an inseparable part of our daily lives. People spend hours every day using platforms for communication, entertainment, education, and work. Although social media offers many advantages, excessive use has become a serious concern, as it can lead to distraction, reduced productivity, increased stress, poor sleep quality, and lower job satisfaction. For this reason, understanding how social media affects people's productivity has become increasingly important. This project analyzes real-world data to explore this relationship and identify patterns that help explain the impact of social media on daily performance and well-being.</a:t>
            </a:r>
            <a:endParaRPr lang="en-US" sz="1500" dirty="0"/>
          </a:p>
        </p:txBody>
      </p:sp>
      <p:sp>
        <p:nvSpPr>
          <p:cNvPr id="7" name="Shape 4"/>
          <p:cNvSpPr/>
          <p:nvPr/>
        </p:nvSpPr>
        <p:spPr>
          <a:xfrm>
            <a:off x="640080" y="5577840"/>
            <a:ext cx="3520440" cy="777240"/>
          </a:xfrm>
          <a:prstGeom prst="roundRect">
            <a:avLst>
              <a:gd name="adj" fmla="val 11765"/>
            </a:avLst>
          </a:prstGeom>
          <a:solidFill>
            <a:srgbClr val="1B3A4B"/>
          </a:solidFill>
          <a:ln/>
        </p:spPr>
      </p:sp>
      <p:sp>
        <p:nvSpPr>
          <p:cNvPr id="8" name="Text 5"/>
          <p:cNvSpPr/>
          <p:nvPr/>
        </p:nvSpPr>
        <p:spPr>
          <a:xfrm>
            <a:off x="868680" y="5577840"/>
            <a:ext cx="3063240" cy="777240"/>
          </a:xfrm>
          <a:prstGeom prst="rect">
            <a:avLst/>
          </a:prstGeom>
          <a:noFill/>
          <a:ln/>
        </p:spPr>
        <p:txBody>
          <a:bodyPr wrap="square"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30,000  </a:t>
            </a:r>
            <a:pPr indent="0" marL="0">
              <a:buNone/>
            </a:pPr>
            <a:r>
              <a:rPr lang="en-US" sz="1200" dirty="0">
                <a:solidFill>
                  <a:srgbClr val="CADCDC"/>
                </a:solidFill>
                <a:latin typeface="Calibri" pitchFamily="34" charset="0"/>
                <a:ea typeface="Calibri" pitchFamily="34" charset="-122"/>
                <a:cs typeface="Calibri" pitchFamily="34" charset="-120"/>
              </a:rPr>
              <a:t>Respondents Analyzed</a:t>
            </a:r>
            <a:endParaRPr lang="en-US" sz="1600" dirty="0"/>
          </a:p>
        </p:txBody>
      </p:sp>
      <p:sp>
        <p:nvSpPr>
          <p:cNvPr id="9" name="Shape 6"/>
          <p:cNvSpPr/>
          <p:nvPr/>
        </p:nvSpPr>
        <p:spPr>
          <a:xfrm>
            <a:off x="4434840" y="5577840"/>
            <a:ext cx="3520440" cy="777240"/>
          </a:xfrm>
          <a:prstGeom prst="roundRect">
            <a:avLst>
              <a:gd name="adj" fmla="val 11765"/>
            </a:avLst>
          </a:prstGeom>
          <a:solidFill>
            <a:srgbClr val="1B3A4B"/>
          </a:solidFill>
          <a:ln/>
        </p:spPr>
      </p:sp>
      <p:sp>
        <p:nvSpPr>
          <p:cNvPr id="10" name="Text 7"/>
          <p:cNvSpPr/>
          <p:nvPr/>
        </p:nvSpPr>
        <p:spPr>
          <a:xfrm>
            <a:off x="4663440" y="5577840"/>
            <a:ext cx="3063240" cy="777240"/>
          </a:xfrm>
          <a:prstGeom prst="rect">
            <a:avLst/>
          </a:prstGeom>
          <a:noFill/>
          <a:ln/>
        </p:spPr>
        <p:txBody>
          <a:bodyPr wrap="square"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5  </a:t>
            </a:r>
            <a:pPr indent="0" marL="0">
              <a:buNone/>
            </a:pPr>
            <a:r>
              <a:rPr lang="en-US" sz="1200" dirty="0">
                <a:solidFill>
                  <a:srgbClr val="CADCDC"/>
                </a:solidFill>
                <a:latin typeface="Calibri" pitchFamily="34" charset="0"/>
                <a:ea typeface="Calibri" pitchFamily="34" charset="-122"/>
                <a:cs typeface="Calibri" pitchFamily="34" charset="-120"/>
              </a:rPr>
              <a:t>Wellbeing Dimensions</a:t>
            </a:r>
            <a:endParaRPr lang="en-US" sz="1600" dirty="0"/>
          </a:p>
        </p:txBody>
      </p:sp>
      <p:sp>
        <p:nvSpPr>
          <p:cNvPr id="11" name="Shape 8"/>
          <p:cNvSpPr/>
          <p:nvPr/>
        </p:nvSpPr>
        <p:spPr>
          <a:xfrm>
            <a:off x="8229600" y="5577840"/>
            <a:ext cx="3520440" cy="777240"/>
          </a:xfrm>
          <a:prstGeom prst="roundRect">
            <a:avLst>
              <a:gd name="adj" fmla="val 11765"/>
            </a:avLst>
          </a:prstGeom>
          <a:solidFill>
            <a:srgbClr val="1B3A4B"/>
          </a:solidFill>
          <a:ln/>
        </p:spPr>
      </p:sp>
      <p:sp>
        <p:nvSpPr>
          <p:cNvPr id="12" name="Text 9"/>
          <p:cNvSpPr/>
          <p:nvPr/>
        </p:nvSpPr>
        <p:spPr>
          <a:xfrm>
            <a:off x="8458200" y="5577840"/>
            <a:ext cx="3063240" cy="777240"/>
          </a:xfrm>
          <a:prstGeom prst="rect">
            <a:avLst/>
          </a:prstGeom>
          <a:noFill/>
          <a:ln/>
        </p:spPr>
        <p:txBody>
          <a:bodyPr wrap="square" rtlCol="0" anchor="ctr"/>
          <a:lstStyle/>
          <a:p>
            <a:pPr indent="0" marL="0">
              <a:buNone/>
            </a:pPr>
            <a:r>
              <a:rPr lang="en-US" sz="1600" b="1" dirty="0">
                <a:solidFill>
                  <a:srgbClr val="02C39A"/>
                </a:solidFill>
                <a:latin typeface="Calibri" pitchFamily="34" charset="0"/>
                <a:ea typeface="Calibri" pitchFamily="34" charset="-122"/>
                <a:cs typeface="Calibri" pitchFamily="34" charset="-120"/>
              </a:rPr>
              <a:t>Power BI  </a:t>
            </a:r>
            <a:pPr indent="0" marL="0">
              <a:buNone/>
            </a:pPr>
            <a:r>
              <a:rPr lang="en-US" sz="1200" dirty="0">
                <a:solidFill>
                  <a:srgbClr val="CADCDC"/>
                </a:solidFill>
                <a:latin typeface="Calibri" pitchFamily="34" charset="0"/>
                <a:ea typeface="Calibri" pitchFamily="34" charset="-122"/>
                <a:cs typeface="Calibri" pitchFamily="34" charset="-120"/>
              </a:rPr>
              <a:t>Analysis Platform</a:t>
            </a:r>
            <a:endParaRPr lang="en-US" sz="1600" dirty="0"/>
          </a:p>
        </p:txBody>
      </p:sp>
      <p:sp>
        <p:nvSpPr>
          <p:cNvPr id="13" name="Text 10"/>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4" name="Text 11"/>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Data Dictionary — Raw Columns (1/2)</a:t>
            </a:r>
            <a:endParaRPr lang="en-US" sz="2400" dirty="0"/>
          </a:p>
        </p:txBody>
      </p:sp>
      <p:sp>
        <p:nvSpPr>
          <p:cNvPr id="3" name="Text 1"/>
          <p:cNvSpPr/>
          <p:nvPr/>
        </p:nvSpPr>
        <p:spPr>
          <a:xfrm>
            <a:off x="640080" y="1024128"/>
            <a:ext cx="9144000" cy="365760"/>
          </a:xfrm>
          <a:prstGeom prst="rect">
            <a:avLst/>
          </a:prstGeom>
          <a:noFill/>
          <a:ln/>
        </p:spPr>
        <p:txBody>
          <a:bodyPr wrap="square" rtlCol="0" anchor="ctr"/>
          <a:lstStyle/>
          <a:p>
            <a:pPr indent="0" marL="0">
              <a:buNone/>
            </a:pPr>
            <a:r>
              <a:rPr lang="en-US" sz="1250" i="1" dirty="0">
                <a:solidFill>
                  <a:srgbClr val="5B7A85"/>
                </a:solidFill>
                <a:latin typeface="Calibri" pitchFamily="34" charset="0"/>
                <a:ea typeface="Calibri" pitchFamily="34" charset="-122"/>
                <a:cs typeface="Calibri" pitchFamily="34" charset="-120"/>
              </a:rPr>
              <a:t>Demographics &amp; digital-behavior fields as collected</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27080" cy="4572000"/>
        </p:xfrm>
        <a:graphic>
          <a:graphicData uri="http://schemas.openxmlformats.org/drawingml/2006/table">
            <a:tbl>
              <a:tblPr/>
              <a:tblGrid>
                <a:gridCol w="2743200"/>
                <a:gridCol w="1188720"/>
                <a:gridCol w="6995160"/>
              </a:tblGrid>
              <a:tr h="457200">
                <a:tc>
                  <a:txBody>
                    <a:bodyPr/>
                    <a:lstStyle/>
                    <a:p>
                      <a:pPr indent="0" marL="0">
                        <a:buNone/>
                      </a:pPr>
                      <a:r>
                        <a:rPr lang="en-US" sz="1100" b="1" dirty="0">
                          <a:solidFill>
                            <a:srgbClr val="FFFFFF"/>
                          </a:solidFill>
                        </a:rPr>
                        <a:t>Column</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c>
                  <a:txBody>
                    <a:bodyPr/>
                    <a:lstStyle/>
                    <a:p>
                      <a:pPr indent="0" marL="0">
                        <a:buNone/>
                      </a:pPr>
                      <a:r>
                        <a:rPr lang="en-US" sz="1100" b="1" dirty="0">
                          <a:solidFill>
                            <a:srgbClr val="FFFFFF"/>
                          </a:solidFill>
                        </a:rPr>
                        <a:t>Type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c>
                  <a:txBody>
                    <a:bodyPr/>
                    <a:lstStyle/>
                    <a:p>
                      <a:pPr indent="0" marL="0">
                        <a:buNone/>
                      </a:pPr>
                      <a:r>
                        <a:rPr lang="en-US" sz="1100" b="1" dirty="0">
                          <a:solidFill>
                            <a:srgbClr val="FFFFFF"/>
                          </a:solidFill>
                        </a:rPr>
                        <a:t>Description</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r>
              <a:tr h="457200">
                <a:tc>
                  <a:txBody>
                    <a:bodyPr/>
                    <a:lstStyle/>
                    <a:p>
                      <a:pPr indent="0" marL="0">
                        <a:buNone/>
                      </a:pPr>
                      <a:r>
                        <a:rPr lang="en-US" sz="1050" b="1" dirty="0">
                          <a:solidFill>
                            <a:srgbClr val="1B3A4B"/>
                          </a:solidFill>
                        </a:rPr>
                        <a:t>age</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Int64</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Respondent's age in years</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B3A4B"/>
                          </a:solidFill>
                        </a:rPr>
                        <a:t>gender</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Text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Male / Female / Other</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457200">
                <a:tc>
                  <a:txBody>
                    <a:bodyPr/>
                    <a:lstStyle/>
                    <a:p>
                      <a:pPr indent="0" marL="0">
                        <a:buNone/>
                      </a:pPr>
                      <a:r>
                        <a:rPr lang="en-US" sz="1050" b="1" dirty="0">
                          <a:solidFill>
                            <a:srgbClr val="1B3A4B"/>
                          </a:solidFill>
                        </a:rPr>
                        <a:t>job_type</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Text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Occupation: IT, Health, Finance, Education, Student, Unemployed</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B3A4B"/>
                          </a:solidFill>
                        </a:rPr>
                        <a:t>daily_social_media_time</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Float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Avg. hours/day spent on social media</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457200">
                <a:tc>
                  <a:txBody>
                    <a:bodyPr/>
                    <a:lstStyle/>
                    <a:p>
                      <a:pPr indent="0" marL="0">
                        <a:buNone/>
                      </a:pPr>
                      <a:r>
                        <a:rPr lang="en-US" sz="1050" b="1" dirty="0">
                          <a:solidFill>
                            <a:srgbClr val="1B3A4B"/>
                          </a:solidFill>
                        </a:rPr>
                        <a:t>social_platform_preference</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Text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Main platform: Facebook, Instagram, TikTok, Twitter, Telegram</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B3A4B"/>
                          </a:solidFill>
                        </a:rPr>
                        <a:t>number_of_notifications</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Int64</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Daily phone notifications received</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457200">
                <a:tc>
                  <a:txBody>
                    <a:bodyPr/>
                    <a:lstStyle/>
                    <a:p>
                      <a:pPr indent="0" marL="0">
                        <a:buNone/>
                      </a:pPr>
                      <a:r>
                        <a:rPr lang="en-US" sz="1050" b="1" dirty="0">
                          <a:solidFill>
                            <a:srgbClr val="1B3A4B"/>
                          </a:solidFill>
                        </a:rPr>
                        <a:t>screen_time_before_sleep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Float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Hours of screen exposure before bed</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B3A4B"/>
                          </a:solidFill>
                        </a:rPr>
                        <a:t>has_digital_wellbeing_enabled</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Boolean</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Whether phone's digital wellbeing feature is on</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457200">
                <a:tc>
                  <a:txBody>
                    <a:bodyPr/>
                    <a:lstStyle/>
                    <a:p>
                      <a:pPr indent="0" marL="0">
                        <a:buNone/>
                      </a:pPr>
                      <a:r>
                        <a:rPr lang="en-US" sz="1050" b="1" dirty="0">
                          <a:solidFill>
                            <a:srgbClr val="1B3A4B"/>
                          </a:solidFill>
                        </a:rPr>
                        <a:t>uses_focus_apps</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Boolean</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Whether respondent uses focus/productivity apps</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6" name="Text 3"/>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Data Dictionary — Raw Columns (2/2)</a:t>
            </a:r>
            <a:endParaRPr lang="en-US" sz="2400" dirty="0"/>
          </a:p>
        </p:txBody>
      </p:sp>
      <p:sp>
        <p:nvSpPr>
          <p:cNvPr id="3" name="Text 1"/>
          <p:cNvSpPr/>
          <p:nvPr/>
        </p:nvSpPr>
        <p:spPr>
          <a:xfrm>
            <a:off x="640080" y="1024128"/>
            <a:ext cx="9144000" cy="365760"/>
          </a:xfrm>
          <a:prstGeom prst="rect">
            <a:avLst/>
          </a:prstGeom>
          <a:noFill/>
          <a:ln/>
        </p:spPr>
        <p:txBody>
          <a:bodyPr wrap="square" rtlCol="0" anchor="ctr"/>
          <a:lstStyle/>
          <a:p>
            <a:pPr indent="0" marL="0">
              <a:buNone/>
            </a:pPr>
            <a:r>
              <a:rPr lang="en-US" sz="1250" i="1" dirty="0">
                <a:solidFill>
                  <a:srgbClr val="5B7A85"/>
                </a:solidFill>
                <a:latin typeface="Calibri" pitchFamily="34" charset="0"/>
                <a:ea typeface="Calibri" pitchFamily="34" charset="-122"/>
                <a:cs typeface="Calibri" pitchFamily="34" charset="-120"/>
              </a:rPr>
              <a:t>Work habits &amp; wellbeing outcome fields as collected</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27080" cy="4892040"/>
        </p:xfrm>
        <a:graphic>
          <a:graphicData uri="http://schemas.openxmlformats.org/drawingml/2006/table">
            <a:tbl>
              <a:tblPr/>
              <a:tblGrid>
                <a:gridCol w="2743200"/>
                <a:gridCol w="1188720"/>
                <a:gridCol w="6995160"/>
              </a:tblGrid>
              <a:tr h="444731">
                <a:tc>
                  <a:txBody>
                    <a:bodyPr/>
                    <a:lstStyle/>
                    <a:p>
                      <a:pPr indent="0" marL="0">
                        <a:buNone/>
                      </a:pPr>
                      <a:r>
                        <a:rPr lang="en-US" sz="1100" b="1" dirty="0">
                          <a:solidFill>
                            <a:srgbClr val="FFFFFF"/>
                          </a:solidFill>
                        </a:rPr>
                        <a:t>Column</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c>
                  <a:txBody>
                    <a:bodyPr/>
                    <a:lstStyle/>
                    <a:p>
                      <a:pPr indent="0" marL="0">
                        <a:buNone/>
                      </a:pPr>
                      <a:r>
                        <a:rPr lang="en-US" sz="1100" b="1" dirty="0">
                          <a:solidFill>
                            <a:srgbClr val="FFFFFF"/>
                          </a:solidFill>
                        </a:rPr>
                        <a:t>Type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c>
                  <a:txBody>
                    <a:bodyPr/>
                    <a:lstStyle/>
                    <a:p>
                      <a:pPr indent="0" marL="0">
                        <a:buNone/>
                      </a:pPr>
                      <a:r>
                        <a:rPr lang="en-US" sz="1100" b="1" dirty="0">
                          <a:solidFill>
                            <a:srgbClr val="FFFFFF"/>
                          </a:solidFill>
                        </a:rPr>
                        <a:t>Description</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r>
              <a:tr h="444731">
                <a:tc>
                  <a:txBody>
                    <a:bodyPr/>
                    <a:lstStyle/>
                    <a:p>
                      <a:pPr indent="0" marL="0">
                        <a:buNone/>
                      </a:pPr>
                      <a:r>
                        <a:rPr lang="en-US" sz="1050" b="1" dirty="0">
                          <a:solidFill>
                            <a:srgbClr val="1B3A4B"/>
                          </a:solidFill>
                        </a:rPr>
                        <a:t>work_hours_per_day</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Float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Avg. work hours per day</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44731">
                <a:tc>
                  <a:txBody>
                    <a:bodyPr/>
                    <a:lstStyle/>
                    <a:p>
                      <a:pPr indent="0" marL="0">
                        <a:buNone/>
                      </a:pPr>
                      <a:r>
                        <a:rPr lang="en-US" sz="1050" b="1" dirty="0">
                          <a:solidFill>
                            <a:srgbClr val="1B3A4B"/>
                          </a:solidFill>
                        </a:rPr>
                        <a:t>breaks_during_work</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Int64</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Number of work breaks taken per day</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444731">
                <a:tc>
                  <a:txBody>
                    <a:bodyPr/>
                    <a:lstStyle/>
                    <a:p>
                      <a:pPr indent="0" marL="0">
                        <a:buNone/>
                      </a:pPr>
                      <a:r>
                        <a:rPr lang="en-US" sz="1050" b="1" dirty="0">
                          <a:solidFill>
                            <a:srgbClr val="1B3A4B"/>
                          </a:solidFill>
                        </a:rPr>
                        <a:t>weekly_offline_hours</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Float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Hours spent fully offline per week</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44731">
                <a:tc>
                  <a:txBody>
                    <a:bodyPr/>
                    <a:lstStyle/>
                    <a:p>
                      <a:pPr indent="0" marL="0">
                        <a:buNone/>
                      </a:pPr>
                      <a:r>
                        <a:rPr lang="en-US" sz="1050" b="1" dirty="0">
                          <a:solidFill>
                            <a:srgbClr val="1B3A4B"/>
                          </a:solidFill>
                        </a:rPr>
                        <a:t>coffee_consumption_per_day</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Int64</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Cups of coffee consumed per day</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444731">
                <a:tc>
                  <a:txBody>
                    <a:bodyPr/>
                    <a:lstStyle/>
                    <a:p>
                      <a:pPr indent="0" marL="0">
                        <a:buNone/>
                      </a:pPr>
                      <a:r>
                        <a:rPr lang="en-US" sz="1050" b="1" dirty="0">
                          <a:solidFill>
                            <a:srgbClr val="1B3A4B"/>
                          </a:solidFill>
                        </a:rPr>
                        <a:t>sleep_hours</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Float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Avg. nightly sleep hours</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44731">
                <a:tc>
                  <a:txBody>
                    <a:bodyPr/>
                    <a:lstStyle/>
                    <a:p>
                      <a:pPr indent="0" marL="0">
                        <a:buNone/>
                      </a:pPr>
                      <a:r>
                        <a:rPr lang="en-US" sz="1050" b="1" dirty="0">
                          <a:solidFill>
                            <a:srgbClr val="1B3A4B"/>
                          </a:solidFill>
                        </a:rPr>
                        <a:t>stress_level</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Float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Self-reported stress, scale 0-10</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444731">
                <a:tc>
                  <a:txBody>
                    <a:bodyPr/>
                    <a:lstStyle/>
                    <a:p>
                      <a:pPr indent="0" marL="0">
                        <a:buNone/>
                      </a:pPr>
                      <a:r>
                        <a:rPr lang="en-US" sz="1050" b="1" dirty="0">
                          <a:solidFill>
                            <a:srgbClr val="1B3A4B"/>
                          </a:solidFill>
                        </a:rPr>
                        <a:t>days_feeling_burnout_per_month</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Int64</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Days per month feeling burned out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44731">
                <a:tc>
                  <a:txBody>
                    <a:bodyPr/>
                    <a:lstStyle/>
                    <a:p>
                      <a:pPr indent="0" marL="0">
                        <a:buNone/>
                      </a:pPr>
                      <a:r>
                        <a:rPr lang="en-US" sz="1050" b="1" dirty="0">
                          <a:solidFill>
                            <a:srgbClr val="1B3A4B"/>
                          </a:solidFill>
                        </a:rPr>
                        <a:t>perceived_productivity_score</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Float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Self-rated productivity, scale 0-10</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444731">
                <a:tc>
                  <a:txBody>
                    <a:bodyPr/>
                    <a:lstStyle/>
                    <a:p>
                      <a:pPr indent="0" marL="0">
                        <a:buNone/>
                      </a:pPr>
                      <a:r>
                        <a:rPr lang="en-US" sz="1050" b="1" dirty="0">
                          <a:solidFill>
                            <a:srgbClr val="1B3A4B"/>
                          </a:solidFill>
                        </a:rPr>
                        <a:t>actual_productivity_score</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Float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Measured/actual productivity, scale 0-10</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44731">
                <a:tc>
                  <a:txBody>
                    <a:bodyPr/>
                    <a:lstStyle/>
                    <a:p>
                      <a:pPr indent="0" marL="0">
                        <a:buNone/>
                      </a:pPr>
                      <a:r>
                        <a:rPr lang="en-US" sz="1050" b="1" dirty="0">
                          <a:solidFill>
                            <a:srgbClr val="1B3A4B"/>
                          </a:solidFill>
                        </a:rPr>
                        <a:t>job_satisfaction_score</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Float</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Self-rated job satisfaction, scale 0-10</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bl>
          </a:graphicData>
        </a:graphic>
      </p:graphicFrame>
      <p:sp>
        <p:nvSpPr>
          <p:cNvPr id="5" name="Text 2"/>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6" name="Text 3"/>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8F7"/>
        </a:solidFill>
      </p:bgPr>
    </p:bg>
    <p:spTree>
      <p:nvGrpSpPr>
        <p:cNvPr id="1" name=""/>
        <p:cNvGrpSpPr/>
        <p:nvPr/>
      </p:nvGrpSpPr>
      <p:grpSpPr>
        <a:xfrm>
          <a:off x="0" y="0"/>
          <a:ext cx="0" cy="0"/>
          <a:chOff x="0" y="0"/>
          <a:chExt cx="0" cy="0"/>
        </a:xfrm>
      </p:grpSpPr>
      <p:sp>
        <p:nvSpPr>
          <p:cNvPr id="2" name="Text 0"/>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Data Cleaning — Missing Values (1/2)</a:t>
            </a:r>
            <a:endParaRPr lang="en-US" sz="2400" dirty="0"/>
          </a:p>
        </p:txBody>
      </p:sp>
      <p:sp>
        <p:nvSpPr>
          <p:cNvPr id="3" name="Text 1"/>
          <p:cNvSpPr/>
          <p:nvPr/>
        </p:nvSpPr>
        <p:spPr>
          <a:xfrm>
            <a:off x="640080" y="1024128"/>
            <a:ext cx="10515600" cy="365760"/>
          </a:xfrm>
          <a:prstGeom prst="rect">
            <a:avLst/>
          </a:prstGeom>
          <a:noFill/>
          <a:ln/>
        </p:spPr>
        <p:txBody>
          <a:bodyPr wrap="square" rtlCol="0" anchor="ctr"/>
          <a:lstStyle/>
          <a:p>
            <a:pPr indent="0" marL="0">
              <a:buNone/>
            </a:pPr>
            <a:r>
              <a:rPr lang="en-US" sz="1200" i="1" dirty="0">
                <a:solidFill>
                  <a:srgbClr val="5B7A85"/>
                </a:solidFill>
                <a:latin typeface="Calibri" pitchFamily="34" charset="0"/>
                <a:ea typeface="Calibri" pitchFamily="34" charset="-122"/>
                <a:cs typeface="Calibri" pitchFamily="34" charset="-120"/>
              </a:rPr>
              <a:t>7 columns had missing entries, filled in with each column's median value</a:t>
            </a:r>
            <a:endParaRPr lang="en-US" sz="1200" dirty="0"/>
          </a:p>
        </p:txBody>
      </p:sp>
      <p:sp>
        <p:nvSpPr>
          <p:cNvPr id="4" name="Shape 2"/>
          <p:cNvSpPr/>
          <p:nvPr/>
        </p:nvSpPr>
        <p:spPr>
          <a:xfrm>
            <a:off x="640080" y="1463040"/>
            <a:ext cx="10927080" cy="685800"/>
          </a:xfrm>
          <a:prstGeom prst="roundRect">
            <a:avLst>
              <a:gd name="adj" fmla="val 10667"/>
            </a:avLst>
          </a:prstGeom>
          <a:solidFill>
            <a:srgbClr val="1B3A4B"/>
          </a:solidFill>
          <a:ln/>
        </p:spPr>
      </p:sp>
      <p:sp>
        <p:nvSpPr>
          <p:cNvPr id="5" name="Text 3"/>
          <p:cNvSpPr/>
          <p:nvPr/>
        </p:nvSpPr>
        <p:spPr>
          <a:xfrm>
            <a:off x="914400" y="1463040"/>
            <a:ext cx="10424160" cy="685800"/>
          </a:xfrm>
          <a:prstGeom prst="rect">
            <a:avLst/>
          </a:prstGeom>
          <a:noFill/>
          <a:ln/>
        </p:spPr>
        <p:txBody>
          <a:bodyPr wrap="square" rtlCol="0" anchor="ctr"/>
          <a:lstStyle/>
          <a:p>
            <a:pPr indent="0" marL="0">
              <a:buNone/>
            </a:pPr>
            <a:r>
              <a:rPr lang="en-US" sz="1050" b="1" dirty="0">
                <a:solidFill>
                  <a:srgbClr val="02C39A"/>
                </a:solidFill>
                <a:latin typeface="Calibri" pitchFamily="34" charset="0"/>
                <a:ea typeface="Calibri" pitchFamily="34" charset="-122"/>
                <a:cs typeface="Calibri" pitchFamily="34" charset="-120"/>
              </a:rPr>
              <a:t>Why the median, not the mean?  </a:t>
            </a:r>
            <a:pPr indent="0" marL="0">
              <a:buNone/>
            </a:pPr>
            <a:r>
              <a:rPr lang="en-US" sz="1050" dirty="0">
                <a:solidFill>
                  <a:srgbClr val="FFFFFF"/>
                </a:solidFill>
                <a:latin typeface="Calibri" pitchFamily="34" charset="0"/>
                <a:ea typeface="Calibri" pitchFamily="34" charset="-122"/>
                <a:cs typeface="Calibri" pitchFamily="34" charset="-120"/>
              </a:rPr>
              <a:t>The median is resistant to outliers and skewed values — a handful of extreme responses (e.g., someone reporting 0 hours of sleep or 12 hours of social media) would drag a mean up or down, but barely moves the median. Using it keeps the imputed value representative of a typical respondent.</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331720"/>
          <a:ext cx="10927080" cy="3566160"/>
        </p:xfrm>
        <a:graphic>
          <a:graphicData uri="http://schemas.openxmlformats.org/drawingml/2006/table">
            <a:tbl>
              <a:tblPr/>
              <a:tblGrid>
                <a:gridCol w="5029200"/>
                <a:gridCol w="1645920"/>
                <a:gridCol w="4251960"/>
              </a:tblGrid>
              <a:tr h="445770">
                <a:tc>
                  <a:txBody>
                    <a:bodyPr/>
                    <a:lstStyle/>
                    <a:p>
                      <a:pPr indent="0" marL="0">
                        <a:buNone/>
                      </a:pPr>
                      <a:r>
                        <a:rPr lang="en-US" sz="1100" b="1" dirty="0">
                          <a:solidFill>
                            <a:srgbClr val="FFFFFF"/>
                          </a:solidFill>
                        </a:rPr>
                        <a:t>Column with Missing Values</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c>
                  <a:txBody>
                    <a:bodyPr/>
                    <a:lstStyle/>
                    <a:p>
                      <a:pPr indent="0" marL="0">
                        <a:buNone/>
                      </a:pPr>
                      <a:r>
                        <a:rPr lang="en-US" sz="1100" b="1" dirty="0">
                          <a:solidFill>
                            <a:srgbClr val="FFFFFF"/>
                          </a:solidFill>
                        </a:rPr>
                        <a:t>Type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c>
                  <a:txBody>
                    <a:bodyPr/>
                    <a:lstStyle/>
                    <a:p>
                      <a:pPr indent="0" marL="0">
                        <a:buNone/>
                      </a:pPr>
                      <a:r>
                        <a:rPr lang="en-US" sz="1100" b="1" dirty="0">
                          <a:solidFill>
                            <a:srgbClr val="FFFFFF"/>
                          </a:solidFill>
                        </a:rPr>
                        <a:t>Median Value Used to Fill Nulls</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r>
              <a:tr h="445770">
                <a:tc>
                  <a:txBody>
                    <a:bodyPr/>
                    <a:lstStyle/>
                    <a:p>
                      <a:pPr indent="0" marL="0">
                        <a:buNone/>
                      </a:pPr>
                      <a:r>
                        <a:rPr lang="en-US" sz="1100" b="1" dirty="0">
                          <a:solidFill>
                            <a:srgbClr val="1B3A4B"/>
                          </a:solidFill>
                        </a:rPr>
                        <a:t>daily_social_media_time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5B7A85"/>
                          </a:solidFill>
                        </a:rPr>
                        <a:t>Float</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100" b="1" dirty="0">
                          <a:solidFill>
                            <a:srgbClr val="00A896"/>
                          </a:solidFill>
                        </a:rPr>
                        <a:t>3.03 hrs</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45770">
                <a:tc>
                  <a:txBody>
                    <a:bodyPr/>
                    <a:lstStyle/>
                    <a:p>
                      <a:pPr indent="0" marL="0">
                        <a:buNone/>
                      </a:pPr>
                      <a:r>
                        <a:rPr lang="en-US" sz="1100" b="1" dirty="0">
                          <a:solidFill>
                            <a:srgbClr val="1B3A4B"/>
                          </a:solidFill>
                        </a:rPr>
                        <a:t>perceived_productivity_score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5B7A85"/>
                          </a:solidFill>
                        </a:rPr>
                        <a:t>Float</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100" b="1" dirty="0">
                          <a:solidFill>
                            <a:srgbClr val="00A896"/>
                          </a:solidFill>
                        </a:rPr>
                        <a:t>5.53 / 10</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445770">
                <a:tc>
                  <a:txBody>
                    <a:bodyPr/>
                    <a:lstStyle/>
                    <a:p>
                      <a:pPr indent="0" marL="0">
                        <a:buNone/>
                      </a:pPr>
                      <a:r>
                        <a:rPr lang="en-US" sz="1100" b="1" dirty="0">
                          <a:solidFill>
                            <a:srgbClr val="1B3A4B"/>
                          </a:solidFill>
                        </a:rPr>
                        <a:t>actual_productivity_score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5B7A85"/>
                          </a:solidFill>
                        </a:rPr>
                        <a:t>Float</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100" b="1" dirty="0">
                          <a:solidFill>
                            <a:srgbClr val="00A896"/>
                          </a:solidFill>
                        </a:rPr>
                        <a:t>4.95 / 10</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45770">
                <a:tc>
                  <a:txBody>
                    <a:bodyPr/>
                    <a:lstStyle/>
                    <a:p>
                      <a:pPr indent="0" marL="0">
                        <a:buNone/>
                      </a:pPr>
                      <a:r>
                        <a:rPr lang="en-US" sz="1100" b="1" dirty="0">
                          <a:solidFill>
                            <a:srgbClr val="1B3A4B"/>
                          </a:solidFill>
                        </a:rPr>
                        <a:t>stress_level</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5B7A85"/>
                          </a:solidFill>
                        </a:rPr>
                        <a:t>Float</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100" b="1" dirty="0">
                          <a:solidFill>
                            <a:srgbClr val="00A896"/>
                          </a:solidFill>
                        </a:rPr>
                        <a:t>6 / 10</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445770">
                <a:tc>
                  <a:txBody>
                    <a:bodyPr/>
                    <a:lstStyle/>
                    <a:p>
                      <a:pPr indent="0" marL="0">
                        <a:buNone/>
                      </a:pPr>
                      <a:r>
                        <a:rPr lang="en-US" sz="1100" b="1" dirty="0">
                          <a:solidFill>
                            <a:srgbClr val="1B3A4B"/>
                          </a:solidFill>
                        </a:rPr>
                        <a:t>sleep_hours</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5B7A85"/>
                          </a:solidFill>
                        </a:rPr>
                        <a:t>Float</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100" b="1" dirty="0">
                          <a:solidFill>
                            <a:srgbClr val="00A896"/>
                          </a:solidFill>
                        </a:rPr>
                        <a:t>6.5 hrs</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445770">
                <a:tc>
                  <a:txBody>
                    <a:bodyPr/>
                    <a:lstStyle/>
                    <a:p>
                      <a:pPr indent="0" marL="0">
                        <a:buNone/>
                      </a:pPr>
                      <a:r>
                        <a:rPr lang="en-US" sz="1100" b="1" dirty="0">
                          <a:solidFill>
                            <a:srgbClr val="1B3A4B"/>
                          </a:solidFill>
                        </a:rPr>
                        <a:t>screen_time_before_sleep</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5B7A85"/>
                          </a:solidFill>
                        </a:rPr>
                        <a:t>Float</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100" b="1" dirty="0">
                          <a:solidFill>
                            <a:srgbClr val="00A896"/>
                          </a:solidFill>
                        </a:rPr>
                        <a:t>1.01 hrs</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445770">
                <a:tc>
                  <a:txBody>
                    <a:bodyPr/>
                    <a:lstStyle/>
                    <a:p>
                      <a:pPr indent="0" marL="0">
                        <a:buNone/>
                      </a:pPr>
                      <a:r>
                        <a:rPr lang="en-US" sz="1100" b="1" dirty="0">
                          <a:solidFill>
                            <a:srgbClr val="1B3A4B"/>
                          </a:solidFill>
                        </a:rPr>
                        <a:t>job_satisfaction_score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5B7A85"/>
                          </a:solidFill>
                        </a:rPr>
                        <a:t>Float</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100" b="1" dirty="0">
                          <a:solidFill>
                            <a:srgbClr val="00A896"/>
                          </a:solidFill>
                        </a:rPr>
                        <a:t>4.95 / 10</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8" name="Text 5"/>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8F7"/>
        </a:solidFill>
      </p:bgPr>
    </p:bg>
    <p:spTree>
      <p:nvGrpSpPr>
        <p:cNvPr id="1" name=""/>
        <p:cNvGrpSpPr/>
        <p:nvPr/>
      </p:nvGrpSpPr>
      <p:grpSpPr>
        <a:xfrm>
          <a:off x="0" y="0"/>
          <a:ext cx="0" cy="0"/>
          <a:chOff x="0" y="0"/>
          <a:chExt cx="0" cy="0"/>
        </a:xfrm>
      </p:grpSpPr>
      <p:sp>
        <p:nvSpPr>
          <p:cNvPr id="2" name="Text 0"/>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Data Cleaning — Column by Column (2/2)</a:t>
            </a:r>
            <a:endParaRPr lang="en-US" sz="2400" dirty="0"/>
          </a:p>
        </p:txBody>
      </p:sp>
      <p:sp>
        <p:nvSpPr>
          <p:cNvPr id="3" name="Text 1"/>
          <p:cNvSpPr/>
          <p:nvPr/>
        </p:nvSpPr>
        <p:spPr>
          <a:xfrm>
            <a:off x="640080" y="1024128"/>
            <a:ext cx="10515600" cy="365760"/>
          </a:xfrm>
          <a:prstGeom prst="rect">
            <a:avLst/>
          </a:prstGeom>
          <a:noFill/>
          <a:ln/>
        </p:spPr>
        <p:txBody>
          <a:bodyPr wrap="square" rtlCol="0" anchor="ctr"/>
          <a:lstStyle/>
          <a:p>
            <a:pPr indent="0" marL="0">
              <a:buNone/>
            </a:pPr>
            <a:r>
              <a:rPr lang="en-US" sz="1200" i="1" dirty="0">
                <a:solidFill>
                  <a:srgbClr val="5B7A85"/>
                </a:solidFill>
                <a:latin typeface="Calibri" pitchFamily="34" charset="0"/>
                <a:ea typeface="Calibri" pitchFamily="34" charset="-122"/>
                <a:cs typeface="Calibri" pitchFamily="34" charset="-120"/>
              </a:rPr>
              <a:t>11 raw columns were cleaned and converted into readable categories using DAX SWITCH logic</a:t>
            </a:r>
            <a:endParaRPr lang="en-US" sz="1200" dirty="0"/>
          </a:p>
        </p:txBody>
      </p:sp>
      <p:sp>
        <p:nvSpPr>
          <p:cNvPr id="4" name="Shape 2"/>
          <p:cNvSpPr/>
          <p:nvPr/>
        </p:nvSpPr>
        <p:spPr>
          <a:xfrm>
            <a:off x="640080" y="1463040"/>
            <a:ext cx="10927080" cy="566928"/>
          </a:xfrm>
          <a:prstGeom prst="roundRect">
            <a:avLst>
              <a:gd name="adj" fmla="val 12903"/>
            </a:avLst>
          </a:prstGeom>
          <a:solidFill>
            <a:srgbClr val="1B3A4B"/>
          </a:solidFill>
          <a:ln/>
        </p:spPr>
      </p:sp>
      <p:sp>
        <p:nvSpPr>
          <p:cNvPr id="5" name="Text 3"/>
          <p:cNvSpPr/>
          <p:nvPr/>
        </p:nvSpPr>
        <p:spPr>
          <a:xfrm>
            <a:off x="914400" y="1463040"/>
            <a:ext cx="10424160" cy="566928"/>
          </a:xfrm>
          <a:prstGeom prst="rect">
            <a:avLst/>
          </a:prstGeom>
          <a:noFill/>
          <a:ln/>
        </p:spPr>
        <p:txBody>
          <a:bodyPr wrap="square" rtlCol="0" anchor="ctr"/>
          <a:lstStyle/>
          <a:p>
            <a:pPr indent="0" marL="0">
              <a:buNone/>
            </a:pPr>
            <a:r>
              <a:rPr lang="en-US" sz="1050" b="1" dirty="0">
                <a:solidFill>
                  <a:srgbClr val="02C39A"/>
                </a:solidFill>
              </a:rPr>
              <a:t>Example — Stress Group:  </a:t>
            </a:r>
            <a:pPr indent="0" marL="0">
              <a:buNone/>
            </a:pPr>
            <a:r>
              <a:rPr lang="en-US" sz="1050" dirty="0">
                <a:solidFill>
                  <a:srgbClr val="FFFFFF"/>
                </a:solidFill>
                <a:latin typeface="Consolas" pitchFamily="34" charset="0"/>
                <a:ea typeface="Consolas" pitchFamily="34" charset="-122"/>
                <a:cs typeface="Consolas" pitchFamily="34" charset="-120"/>
              </a:rPr>
              <a:t>SWITCH(TRUE(), stress_level&lt;=3, "Low Stress", stress_level&lt;=6, "Medium Stress", "High Stress")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10927080" cy="4206240"/>
        </p:xfrm>
        <a:graphic>
          <a:graphicData uri="http://schemas.openxmlformats.org/drawingml/2006/table">
            <a:tbl>
              <a:tblPr/>
              <a:tblGrid>
                <a:gridCol w="2331720"/>
                <a:gridCol w="2331720"/>
                <a:gridCol w="6263640"/>
              </a:tblGrid>
              <a:tr h="350520">
                <a:tc>
                  <a:txBody>
                    <a:bodyPr/>
                    <a:lstStyle/>
                    <a:p>
                      <a:pPr indent="0" marL="0">
                        <a:buNone/>
                      </a:pPr>
                      <a:r>
                        <a:rPr lang="en-US" sz="1100" b="1" dirty="0">
                          <a:solidFill>
                            <a:srgbClr val="FFFFFF"/>
                          </a:solidFill>
                        </a:rPr>
                        <a:t>Column</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c>
                  <a:txBody>
                    <a:bodyPr/>
                    <a:lstStyle/>
                    <a:p>
                      <a:pPr indent="0" marL="0">
                        <a:buNone/>
                      </a:pPr>
                      <a:r>
                        <a:rPr lang="en-US" sz="1100" b="1" dirty="0">
                          <a:solidFill>
                            <a:srgbClr val="FFFFFF"/>
                          </a:solidFill>
                        </a:rPr>
                        <a:t>Type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c>
                  <a:txBody>
                    <a:bodyPr/>
                    <a:lstStyle/>
                    <a:p>
                      <a:pPr indent="0" marL="0">
                        <a:buNone/>
                      </a:pPr>
                      <a:r>
                        <a:rPr lang="en-US" sz="1100" b="1" dirty="0">
                          <a:solidFill>
                            <a:srgbClr val="FFFFFF"/>
                          </a:solidFill>
                        </a:rPr>
                        <a:t>Description</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028090"/>
                    </a:solidFill>
                  </a:tcPr>
                </a:tc>
              </a:tr>
              <a:tr h="350520">
                <a:tc>
                  <a:txBody>
                    <a:bodyPr/>
                    <a:lstStyle/>
                    <a:p>
                      <a:pPr indent="0" marL="0">
                        <a:buNone/>
                      </a:pPr>
                      <a:r>
                        <a:rPr lang="en-US" sz="1050" b="1" dirty="0">
                          <a:solidFill>
                            <a:srgbClr val="1B3A4B"/>
                          </a:solidFill>
                        </a:rPr>
                        <a:t>Age Group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age</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&lt;25→18-24 · &lt;35→25-34 · &lt;45→35-44 · &lt;55→45-54 · else 55+</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350520">
                <a:tc>
                  <a:txBody>
                    <a:bodyPr/>
                    <a:lstStyle/>
                    <a:p>
                      <a:pPr indent="0" marL="0">
                        <a:buNone/>
                      </a:pPr>
                      <a:r>
                        <a:rPr lang="en-US" sz="1050" b="1" dirty="0">
                          <a:solidFill>
                            <a:srgbClr val="1B3A4B"/>
                          </a:solidFill>
                        </a:rPr>
                        <a:t>Social Media Group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daily_social_media_time</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&lt;2h→Low · &lt;4h→Medium · &lt;6h→High · else Very High Usage</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350520">
                <a:tc>
                  <a:txBody>
                    <a:bodyPr/>
                    <a:lstStyle/>
                    <a:p>
                      <a:pPr indent="0" marL="0">
                        <a:buNone/>
                      </a:pPr>
                      <a:r>
                        <a:rPr lang="en-US" sz="1050" b="1" dirty="0">
                          <a:solidFill>
                            <a:srgbClr val="1B3A4B"/>
                          </a:solidFill>
                        </a:rPr>
                        <a:t>Sleep Group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sleep_hours</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&lt;5h→Very Low · &lt;6.5h→Low · &lt;8h→Normal · else High Sleep</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350520">
                <a:tc>
                  <a:txBody>
                    <a:bodyPr/>
                    <a:lstStyle/>
                    <a:p>
                      <a:pPr indent="0" marL="0">
                        <a:buNone/>
                      </a:pPr>
                      <a:r>
                        <a:rPr lang="en-US" sz="1050" b="1" dirty="0">
                          <a:solidFill>
                            <a:srgbClr val="1B3A4B"/>
                          </a:solidFill>
                        </a:rPr>
                        <a:t>Stress Group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stress_level</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≤3→Low · ≤6→Medium · else High Stress</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350520">
                <a:tc>
                  <a:txBody>
                    <a:bodyPr/>
                    <a:lstStyle/>
                    <a:p>
                      <a:pPr indent="0" marL="0">
                        <a:buNone/>
                      </a:pPr>
                      <a:r>
                        <a:rPr lang="en-US" sz="1050" b="1" dirty="0">
                          <a:solidFill>
                            <a:srgbClr val="1B3A4B"/>
                          </a:solidFill>
                        </a:rPr>
                        <a:t>Coffee Group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coffee_consumption_per_day</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=0→No Coffee · ≤2→Low · ≤4→Medium · else High</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350520">
                <a:tc>
                  <a:txBody>
                    <a:bodyPr/>
                    <a:lstStyle/>
                    <a:p>
                      <a:pPr indent="0" marL="0">
                        <a:buNone/>
                      </a:pPr>
                      <a:r>
                        <a:rPr lang="en-US" sz="1050" b="1" dirty="0">
                          <a:solidFill>
                            <a:srgbClr val="1B3A4B"/>
                          </a:solidFill>
                        </a:rPr>
                        <a:t>Work Hours Group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work_hours_per_day</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&lt;6h→Short · &lt;9h→Normal · else Overworked</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350520">
                <a:tc>
                  <a:txBody>
                    <a:bodyPr/>
                    <a:lstStyle/>
                    <a:p>
                      <a:pPr indent="0" marL="0">
                        <a:buNone/>
                      </a:pPr>
                      <a:r>
                        <a:rPr lang="en-US" sz="1050" b="1" dirty="0">
                          <a:solidFill>
                            <a:srgbClr val="1B3A4B"/>
                          </a:solidFill>
                        </a:rPr>
                        <a:t>Productivity Group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actual_productivity_score</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&lt;4→Low · &lt;7→Medium · else High</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350520">
                <a:tc>
                  <a:txBody>
                    <a:bodyPr/>
                    <a:lstStyle/>
                    <a:p>
                      <a:pPr indent="0" marL="0">
                        <a:buNone/>
                      </a:pPr>
                      <a:r>
                        <a:rPr lang="en-US" sz="1050" b="1" dirty="0">
                          <a:solidFill>
                            <a:srgbClr val="1B3A4B"/>
                          </a:solidFill>
                        </a:rPr>
                        <a:t>Notification Group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number_of_notifications</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=0→None · ≤20→Low · ≤50→Medium · ≤80→High · else Very High</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350520">
                <a:tc>
                  <a:txBody>
                    <a:bodyPr/>
                    <a:lstStyle/>
                    <a:p>
                      <a:pPr indent="0" marL="0">
                        <a:buNone/>
                      </a:pPr>
                      <a:r>
                        <a:rPr lang="en-US" sz="1050" b="1" dirty="0">
                          <a:solidFill>
                            <a:srgbClr val="1B3A4B"/>
                          </a:solidFill>
                        </a:rPr>
                        <a:t>Job Satisfaction Group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job_satisfaction_score</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&lt;4→Low · &lt;7→Medium · else High Satisfaction</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350520">
                <a:tc>
                  <a:txBody>
                    <a:bodyPr/>
                    <a:lstStyle/>
                    <a:p>
                      <a:pPr indent="0" marL="0">
                        <a:buNone/>
                      </a:pPr>
                      <a:r>
                        <a:rPr lang="en-US" sz="1050" b="1" dirty="0">
                          <a:solidFill>
                            <a:srgbClr val="1B3A4B"/>
                          </a:solidFill>
                        </a:rPr>
                        <a:t>Screen Time Group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screen_time_before_sleep</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00" dirty="0">
                          <a:solidFill>
                            <a:srgbClr val="5B7A85"/>
                          </a:solidFill>
                        </a:rPr>
                        <a:t>&lt;0.5h→Very Low · &lt;1.5h→Low · &lt;3h→Medium · else High</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350520">
                <a:tc>
                  <a:txBody>
                    <a:bodyPr/>
                    <a:lstStyle/>
                    <a:p>
                      <a:pPr indent="0" marL="0">
                        <a:buNone/>
                      </a:pPr>
                      <a:r>
                        <a:rPr lang="en-US" sz="1050" b="1" dirty="0">
                          <a:solidFill>
                            <a:srgbClr val="1B3A4B"/>
                          </a:solidFill>
                        </a:rPr>
                        <a:t>Weekly Offline Hours Group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weekly_offline_hours</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00" dirty="0">
                          <a:solidFill>
                            <a:srgbClr val="5B7A85"/>
                          </a:solidFill>
                        </a:rPr>
                        <a:t>&lt;5h→Very Low · &lt;15h→Low · &lt;25h→Medium · else High Offline</a:t>
                      </a:r>
                      <a:endParaRPr lang="en-US" sz="10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8" name="Text 5"/>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DAX Analysis — Measures (1/2)</a:t>
            </a:r>
            <a:endParaRPr lang="en-US" sz="2400" dirty="0"/>
          </a:p>
        </p:txBody>
      </p:sp>
      <p:sp>
        <p:nvSpPr>
          <p:cNvPr id="3" name="Text 1"/>
          <p:cNvSpPr/>
          <p:nvPr/>
        </p:nvSpPr>
        <p:spPr>
          <a:xfrm>
            <a:off x="640080" y="1024128"/>
            <a:ext cx="10058400" cy="365760"/>
          </a:xfrm>
          <a:prstGeom prst="rect">
            <a:avLst/>
          </a:prstGeom>
          <a:noFill/>
          <a:ln/>
        </p:spPr>
        <p:txBody>
          <a:bodyPr wrap="square" rtlCol="0" anchor="ctr"/>
          <a:lstStyle/>
          <a:p>
            <a:pPr indent="0" marL="0">
              <a:buNone/>
            </a:pPr>
            <a:r>
              <a:rPr lang="en-US" sz="1200" i="1" dirty="0">
                <a:solidFill>
                  <a:srgbClr val="5B7A85"/>
                </a:solidFill>
                <a:latin typeface="Calibri" pitchFamily="34" charset="0"/>
                <a:ea typeface="Calibri" pitchFamily="34" charset="-122"/>
                <a:cs typeface="Calibri" pitchFamily="34" charset="-120"/>
              </a:rPr>
              <a:t>14 DAX measures power every KPI card and chart aggregation in the report</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27080" cy="4754880"/>
        </p:xfrm>
        <a:graphic>
          <a:graphicData uri="http://schemas.openxmlformats.org/drawingml/2006/table">
            <a:tbl>
              <a:tblPr/>
              <a:tblGrid>
                <a:gridCol w="1920240"/>
                <a:gridCol w="4663440"/>
                <a:gridCol w="4343400"/>
              </a:tblGrid>
              <a:tr h="594360">
                <a:tc>
                  <a:txBody>
                    <a:bodyPr/>
                    <a:lstStyle/>
                    <a:p>
                      <a:pPr indent="0" marL="0">
                        <a:buNone/>
                      </a:pPr>
                      <a:r>
                        <a:rPr lang="en-US" sz="1100" b="1" dirty="0">
                          <a:solidFill>
                            <a:srgbClr val="FFFFFF"/>
                          </a:solidFill>
                        </a:rPr>
                        <a:t>Measure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c>
                  <a:txBody>
                    <a:bodyPr/>
                    <a:lstStyle/>
                    <a:p>
                      <a:pPr indent="0" marL="0">
                        <a:buNone/>
                      </a:pPr>
                      <a:r>
                        <a:rPr lang="en-US" sz="1100" b="1" dirty="0">
                          <a:solidFill>
                            <a:srgbClr val="FFFFFF"/>
                          </a:solidFill>
                        </a:rPr>
                        <a:t>DAX Formula</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c>
                  <a:txBody>
                    <a:bodyPr/>
                    <a:lstStyle/>
                    <a:p>
                      <a:pPr indent="0" marL="0">
                        <a:buNone/>
                      </a:pPr>
                      <a:r>
                        <a:rPr lang="en-US" sz="1100" b="1" dirty="0">
                          <a:solidFill>
                            <a:srgbClr val="FFFFFF"/>
                          </a:solidFill>
                        </a:rPr>
                        <a:t>Purpose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r>
              <a:tr h="594360">
                <a:tc>
                  <a:txBody>
                    <a:bodyPr/>
                    <a:lstStyle/>
                    <a:p>
                      <a:pPr indent="0" marL="0">
                        <a:buNone/>
                      </a:pPr>
                      <a:r>
                        <a:rPr lang="en-US" sz="1050" b="1" dirty="0">
                          <a:solidFill>
                            <a:srgbClr val="1B3A4B"/>
                          </a:solidFill>
                        </a:rPr>
                        <a:t>Total Users</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COUNTROWS('SocialData')</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50" dirty="0">
                          <a:solidFill>
                            <a:srgbClr val="5B7A85"/>
                          </a:solidFill>
                        </a:rPr>
                        <a:t>Sample size shown on Executive Overview</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594360">
                <a:tc>
                  <a:txBody>
                    <a:bodyPr/>
                    <a:lstStyle/>
                    <a:p>
                      <a:pPr indent="0" marL="0">
                        <a:buNone/>
                      </a:pPr>
                      <a:r>
                        <a:rPr lang="en-US" sz="1050" b="1" dirty="0">
                          <a:solidFill>
                            <a:srgbClr val="1B3A4B"/>
                          </a:solidFill>
                        </a:rPr>
                        <a:t>Avg Social Media Time</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AVERAGE('SocialData'[daily_social_media_time])</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50" dirty="0">
                          <a:solidFill>
                            <a:srgbClr val="5B7A85"/>
                          </a:solidFill>
                        </a:rPr>
                        <a:t>Core usage metric for Dashboard 2</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594360">
                <a:tc>
                  <a:txBody>
                    <a:bodyPr/>
                    <a:lstStyle/>
                    <a:p>
                      <a:pPr indent="0" marL="0">
                        <a:buNone/>
                      </a:pPr>
                      <a:r>
                        <a:rPr lang="en-US" sz="1050" b="1" dirty="0">
                          <a:solidFill>
                            <a:srgbClr val="1B3A4B"/>
                          </a:solidFill>
                        </a:rPr>
                        <a:t>Avg Actual Productivity</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AVERAGE('SocialData'[actual_productivity_score])</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50" dirty="0">
                          <a:solidFill>
                            <a:srgbClr val="5B7A85"/>
                          </a:solidFill>
                        </a:rPr>
                        <a:t>Primary outcome metric across all pages</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594360">
                <a:tc>
                  <a:txBody>
                    <a:bodyPr/>
                    <a:lstStyle/>
                    <a:p>
                      <a:pPr indent="0" marL="0">
                        <a:buNone/>
                      </a:pPr>
                      <a:r>
                        <a:rPr lang="en-US" sz="1050" b="1" dirty="0">
                          <a:solidFill>
                            <a:srgbClr val="1B3A4B"/>
                          </a:solidFill>
                        </a:rPr>
                        <a:t>Avg Perceived Productivity</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AVERAGE(SocialData[perceived_productivity_score])</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50" dirty="0">
                          <a:solidFill>
                            <a:srgbClr val="5B7A85"/>
                          </a:solidFill>
                        </a:rPr>
                        <a:t>Self-rated productivity for the gap analysis</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594360">
                <a:tc>
                  <a:txBody>
                    <a:bodyPr/>
                    <a:lstStyle/>
                    <a:p>
                      <a:pPr indent="0" marL="0">
                        <a:buNone/>
                      </a:pPr>
                      <a:r>
                        <a:rPr lang="en-US" sz="1050" b="1" dirty="0">
                          <a:solidFill>
                            <a:srgbClr val="1B3A4B"/>
                          </a:solidFill>
                        </a:rPr>
                        <a:t>Productivity Gap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AVERAGE(perceived) − AVERAGE(actual)</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50" dirty="0">
                          <a:solidFill>
                            <a:srgbClr val="5B7A85"/>
                          </a:solidFill>
                        </a:rPr>
                        <a:t>Measures over/under-confidence in self-rating</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594360">
                <a:tc>
                  <a:txBody>
                    <a:bodyPr/>
                    <a:lstStyle/>
                    <a:p>
                      <a:pPr indent="0" marL="0">
                        <a:buNone/>
                      </a:pPr>
                      <a:r>
                        <a:rPr lang="en-US" sz="1050" b="1" dirty="0">
                          <a:solidFill>
                            <a:srgbClr val="1B3A4B"/>
                          </a:solidFill>
                        </a:rPr>
                        <a:t>Productivity Efficiency %</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DIVIDE([Avg Actual],[Avg Perceived],0) * 100</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50" dirty="0">
                          <a:solidFill>
                            <a:srgbClr val="5B7A85"/>
                          </a:solidFill>
                        </a:rPr>
                        <a:t>Actual output as a % of perceived output</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594360">
                <a:tc>
                  <a:txBody>
                    <a:bodyPr/>
                    <a:lstStyle/>
                    <a:p>
                      <a:pPr indent="0" marL="0">
                        <a:buNone/>
                      </a:pPr>
                      <a:r>
                        <a:rPr lang="en-US" sz="1050" b="1" dirty="0">
                          <a:solidFill>
                            <a:srgbClr val="1B3A4B"/>
                          </a:solidFill>
                        </a:rPr>
                        <a:t>Avg Stress Level</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AVERAGE('SocialData'[stress_level])</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50" dirty="0">
                          <a:solidFill>
                            <a:srgbClr val="5B7A85"/>
                          </a:solidFill>
                        </a:rPr>
                        <a:t>Core metric for Dashboard 5</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6" name="Text 3"/>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DAX Analysis — Measures (2/2)</a:t>
            </a:r>
            <a:endParaRPr lang="en-US" sz="2400" dirty="0"/>
          </a:p>
        </p:txBody>
      </p:sp>
      <p:sp>
        <p:nvSpPr>
          <p:cNvPr id="3" name="Text 1"/>
          <p:cNvSpPr/>
          <p:nvPr/>
        </p:nvSpPr>
        <p:spPr>
          <a:xfrm>
            <a:off x="640080" y="1024128"/>
            <a:ext cx="10058400" cy="365760"/>
          </a:xfrm>
          <a:prstGeom prst="rect">
            <a:avLst/>
          </a:prstGeom>
          <a:noFill/>
          <a:ln/>
        </p:spPr>
        <p:txBody>
          <a:bodyPr wrap="square" rtlCol="0" anchor="ctr"/>
          <a:lstStyle/>
          <a:p>
            <a:pPr indent="0" marL="0">
              <a:buNone/>
            </a:pPr>
            <a:r>
              <a:rPr lang="en-US" sz="1200" i="1" dirty="0">
                <a:solidFill>
                  <a:srgbClr val="5B7A85"/>
                </a:solidFill>
                <a:latin typeface="Calibri" pitchFamily="34" charset="0"/>
                <a:ea typeface="Calibri" pitchFamily="34" charset="-122"/>
                <a:cs typeface="Calibri" pitchFamily="34" charset="-120"/>
              </a:rPr>
              <a:t>Remaining measures cover burnout, sleep, notifications, and demographics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27080" cy="4754880"/>
        </p:xfrm>
        <a:graphic>
          <a:graphicData uri="http://schemas.openxmlformats.org/drawingml/2006/table">
            <a:tbl>
              <a:tblPr/>
              <a:tblGrid>
                <a:gridCol w="1920240"/>
                <a:gridCol w="4663440"/>
                <a:gridCol w="4343400"/>
              </a:tblGrid>
              <a:tr h="594360">
                <a:tc>
                  <a:txBody>
                    <a:bodyPr/>
                    <a:lstStyle/>
                    <a:p>
                      <a:pPr indent="0" marL="0">
                        <a:buNone/>
                      </a:pPr>
                      <a:r>
                        <a:rPr lang="en-US" sz="1100" b="1" dirty="0">
                          <a:solidFill>
                            <a:srgbClr val="FFFFFF"/>
                          </a:solidFill>
                        </a:rPr>
                        <a:t>Measure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c>
                  <a:txBody>
                    <a:bodyPr/>
                    <a:lstStyle/>
                    <a:p>
                      <a:pPr indent="0" marL="0">
                        <a:buNone/>
                      </a:pPr>
                      <a:r>
                        <a:rPr lang="en-US" sz="1100" b="1" dirty="0">
                          <a:solidFill>
                            <a:srgbClr val="FFFFFF"/>
                          </a:solidFill>
                        </a:rPr>
                        <a:t>DAX Formula</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c>
                  <a:txBody>
                    <a:bodyPr/>
                    <a:lstStyle/>
                    <a:p>
                      <a:pPr indent="0" marL="0">
                        <a:buNone/>
                      </a:pPr>
                      <a:r>
                        <a:rPr lang="en-US" sz="1100" b="1" dirty="0">
                          <a:solidFill>
                            <a:srgbClr val="FFFFFF"/>
                          </a:solidFill>
                        </a:rPr>
                        <a:t>Purpose</a:t>
                      </a:r>
                      <a:endParaRPr lang="en-US" sz="110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r>
              <a:tr h="594360">
                <a:tc>
                  <a:txBody>
                    <a:bodyPr/>
                    <a:lstStyle/>
                    <a:p>
                      <a:pPr indent="0" marL="0">
                        <a:buNone/>
                      </a:pPr>
                      <a:r>
                        <a:rPr lang="en-US" sz="1050" b="1" dirty="0">
                          <a:solidFill>
                            <a:srgbClr val="1B3A4B"/>
                          </a:solidFill>
                        </a:rPr>
                        <a:t>Avg Burnout Days</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AVERAGE('SocialData'[days_feeling_burnout_per_month])</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50" dirty="0">
                          <a:solidFill>
                            <a:srgbClr val="5B7A85"/>
                          </a:solidFill>
                        </a:rPr>
                        <a:t>Core metric for burnout comparisons</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594360">
                <a:tc>
                  <a:txBody>
                    <a:bodyPr/>
                    <a:lstStyle/>
                    <a:p>
                      <a:pPr indent="0" marL="0">
                        <a:buNone/>
                      </a:pPr>
                      <a:r>
                        <a:rPr lang="en-US" sz="1050" b="1" dirty="0">
                          <a:solidFill>
                            <a:srgbClr val="1B3A4B"/>
                          </a:solidFill>
                        </a:rPr>
                        <a:t>Avg Sleep Hours</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AVERAGE('SocialData'[sleep_hours])</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50" dirty="0">
                          <a:solidFill>
                            <a:srgbClr val="5B7A85"/>
                          </a:solidFill>
                        </a:rPr>
                        <a:t>Core metric for Dashboard 4</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594360">
                <a:tc>
                  <a:txBody>
                    <a:bodyPr/>
                    <a:lstStyle/>
                    <a:p>
                      <a:pPr indent="0" marL="0">
                        <a:buNone/>
                      </a:pPr>
                      <a:r>
                        <a:rPr lang="en-US" sz="1050" b="1" dirty="0">
                          <a:solidFill>
                            <a:srgbClr val="1B3A4B"/>
                          </a:solidFill>
                        </a:rPr>
                        <a:t>Avg Notifications</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AVERAGE('SocialData'[number_of_notifications])</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50" dirty="0">
                          <a:solidFill>
                            <a:srgbClr val="5B7A85"/>
                          </a:solidFill>
                        </a:rPr>
                        <a:t>Feeds the Notification Group breakdown</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594360">
                <a:tc>
                  <a:txBody>
                    <a:bodyPr/>
                    <a:lstStyle/>
                    <a:p>
                      <a:pPr indent="0" marL="0">
                        <a:buNone/>
                      </a:pPr>
                      <a:r>
                        <a:rPr lang="en-US" sz="1050" b="1" dirty="0">
                          <a:solidFill>
                            <a:srgbClr val="1B3A4B"/>
                          </a:solidFill>
                        </a:rPr>
                        <a:t>Avg Screen Before Sleep</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AVERAGE('SocialData'[screen_time_before_sleep])</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50" dirty="0">
                          <a:solidFill>
                            <a:srgbClr val="5B7A85"/>
                          </a:solidFill>
                        </a:rPr>
                        <a:t>Digital-habit KPI on Dashboards 2 &amp; 4</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594360">
                <a:tc>
                  <a:txBody>
                    <a:bodyPr/>
                    <a:lstStyle/>
                    <a:p>
                      <a:pPr indent="0" marL="0">
                        <a:buNone/>
                      </a:pPr>
                      <a:r>
                        <a:rPr lang="en-US" sz="1050" b="1" dirty="0">
                          <a:solidFill>
                            <a:srgbClr val="1B3A4B"/>
                          </a:solidFill>
                        </a:rPr>
                        <a:t>Avg Job Satisfaction</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AVERAGE(SocialData[job_satisfaction_score])</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50" dirty="0">
                          <a:solidFill>
                            <a:srgbClr val="5B7A85"/>
                          </a:solidFill>
                        </a:rPr>
                        <a:t>Strongest correlate of productivity found</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594360">
                <a:tc>
                  <a:txBody>
                    <a:bodyPr/>
                    <a:lstStyle/>
                    <a:p>
                      <a:pPr indent="0" marL="0">
                        <a:buNone/>
                      </a:pPr>
                      <a:r>
                        <a:rPr lang="en-US" sz="1050" b="1" dirty="0">
                          <a:solidFill>
                            <a:srgbClr val="1B3A4B"/>
                          </a:solidFill>
                        </a:rPr>
                        <a:t>Avg Age</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AVERAGE(SocialData[age])</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950" dirty="0">
                          <a:solidFill>
                            <a:srgbClr val="5B7A85"/>
                          </a:solidFill>
                        </a:rPr>
                        <a:t>Supports the Age Group breakdowns</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594360">
                <a:tc>
                  <a:txBody>
                    <a:bodyPr/>
                    <a:lstStyle/>
                    <a:p>
                      <a:pPr indent="0" marL="0">
                        <a:buNone/>
                      </a:pPr>
                      <a:r>
                        <a:rPr lang="en-US" sz="1050" b="1" dirty="0">
                          <a:solidFill>
                            <a:srgbClr val="1B3A4B"/>
                          </a:solidFill>
                        </a:rPr>
                        <a:t>Avg Weekly Offline Hours</a:t>
                      </a:r>
                      <a:endParaRPr lang="en-US" sz="10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00" dirty="0">
                          <a:solidFill>
                            <a:srgbClr val="00A896"/>
                          </a:solidFill>
                          <a:latin typeface="Consolas" pitchFamily="34" charset="0"/>
                          <a:ea typeface="Consolas" pitchFamily="34" charset="-122"/>
                          <a:cs typeface="Consolas" pitchFamily="34" charset="-120"/>
                        </a:rPr>
                        <a:t>AVERAGE(SocialData[weekly_offline_hours])</a:t>
                      </a:r>
                      <a:endParaRPr lang="en-US" sz="900" dirty="0">
                        <a:latin typeface="Consolas" charset="0"/>
                        <a:ea typeface="Consolas" charset="0"/>
                        <a:cs typeface="Consolas" charset="0"/>
                      </a:endParaRPr>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950" dirty="0">
                          <a:solidFill>
                            <a:srgbClr val="5B7A85"/>
                          </a:solidFill>
                        </a:rPr>
                        <a:t>Feeds Weekly Offline Hours Group charts</a:t>
                      </a:r>
                      <a:endParaRPr lang="en-US" sz="950" dirty="0"/>
                    </a:p>
                  </a:txBody>
                  <a:tcPr marL="76200" marR="76200" marT="38100" marB="381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6" name="Text 3"/>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1 · EXECUTIVE OVERVIEW</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Who's in the Sample</a:t>
            </a:r>
            <a:endParaRPr lang="en-US" sz="2400" dirty="0"/>
          </a:p>
        </p:txBody>
      </p:sp>
      <p:sp>
        <p:nvSpPr>
          <p:cNvPr id="4" name="Shape 2"/>
          <p:cNvSpPr/>
          <p:nvPr/>
        </p:nvSpPr>
        <p:spPr>
          <a:xfrm>
            <a:off x="640080"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Users by Gender</a:t>
            </a:r>
            <a:endParaRPr lang="en-US" sz="1300" dirty="0"/>
          </a:p>
        </p:txBody>
      </p:sp>
      <p:graphicFrame>
        <p:nvGraphicFramePr>
          <p:cNvPr id="6" name="Chart 0" descr=""/>
          <p:cNvGraphicFramePr/>
          <p:nvPr/>
        </p:nvGraphicFramePr>
        <p:xfrm>
          <a:off x="822960" y="1828800"/>
          <a:ext cx="4937760" cy="2514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68680"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The sample is almost perfectly split between men (48.2%) and women (47.9%), with a small 3.9% Other group — no gender skew to control for.</a:t>
            </a:r>
            <a:endParaRPr lang="en-US" sz="1050" dirty="0"/>
          </a:p>
        </p:txBody>
      </p:sp>
      <p:sp>
        <p:nvSpPr>
          <p:cNvPr id="8" name="Shape 5"/>
          <p:cNvSpPr/>
          <p:nvPr/>
        </p:nvSpPr>
        <p:spPr>
          <a:xfrm>
            <a:off x="6245352"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9" name="Text 6"/>
          <p:cNvSpPr/>
          <p:nvPr/>
        </p:nvSpPr>
        <p:spPr>
          <a:xfrm>
            <a:off x="6473952"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Users by Job Type</a:t>
            </a:r>
            <a:endParaRPr lang="en-US" sz="1300" dirty="0"/>
          </a:p>
        </p:txBody>
      </p:sp>
      <p:graphicFrame>
        <p:nvGraphicFramePr>
          <p:cNvPr id="10" name="Chart 1" descr=""/>
          <p:cNvGraphicFramePr/>
          <p:nvPr/>
        </p:nvGraphicFramePr>
        <p:xfrm>
          <a:off x="6428232" y="1828800"/>
          <a:ext cx="4937760" cy="25146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473952"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All six occupation categories land within 2.5% of each other (~5,000 each) — the sample was deliberately balanced by job type, so comparisons across groups are fair.</a:t>
            </a:r>
            <a:endParaRPr lang="en-US" sz="105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1 · EXECUTIVE OVERVIEW</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Platform &amp; Age Distribution</a:t>
            </a:r>
            <a:endParaRPr lang="en-US" sz="2400" dirty="0"/>
          </a:p>
        </p:txBody>
      </p:sp>
      <p:sp>
        <p:nvSpPr>
          <p:cNvPr id="4" name="Shape 2"/>
          <p:cNvSpPr/>
          <p:nvPr/>
        </p:nvSpPr>
        <p:spPr>
          <a:xfrm>
            <a:off x="640080"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Users by Platform Preference</a:t>
            </a:r>
            <a:endParaRPr lang="en-US" sz="1300" dirty="0"/>
          </a:p>
        </p:txBody>
      </p:sp>
      <p:graphicFrame>
        <p:nvGraphicFramePr>
          <p:cNvPr id="6" name="Chart 0" descr=""/>
          <p:cNvGraphicFramePr/>
          <p:nvPr/>
        </p:nvGraphicFramePr>
        <p:xfrm>
          <a:off x="822960" y="1828800"/>
          <a:ext cx="4937760" cy="2514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68680"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TikTok is the most-preferred platform but only by a small margin (6,096 vs. 5,921 for the lowest, Facebook) — usage is spread evenly across all 5 platforms.</a:t>
            </a:r>
            <a:endParaRPr lang="en-US" sz="1050" dirty="0"/>
          </a:p>
        </p:txBody>
      </p:sp>
      <p:sp>
        <p:nvSpPr>
          <p:cNvPr id="8" name="Shape 5"/>
          <p:cNvSpPr/>
          <p:nvPr/>
        </p:nvSpPr>
        <p:spPr>
          <a:xfrm>
            <a:off x="6245352"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9" name="Text 6"/>
          <p:cNvSpPr/>
          <p:nvPr/>
        </p:nvSpPr>
        <p:spPr>
          <a:xfrm>
            <a:off x="6473952"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Users by Age Group</a:t>
            </a:r>
            <a:endParaRPr lang="en-US" sz="1300" dirty="0"/>
          </a:p>
        </p:txBody>
      </p:sp>
      <p:graphicFrame>
        <p:nvGraphicFramePr>
          <p:cNvPr id="10" name="Chart 1" descr=""/>
          <p:cNvGraphicFramePr/>
          <p:nvPr/>
        </p:nvGraphicFramePr>
        <p:xfrm>
          <a:off x="6428232" y="1828800"/>
          <a:ext cx="4937760" cy="25146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473952"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55+ is the largest age band (6,834 respondents); 18-24 is the smallest (4,299) — the sample skews slightly toward older respondents.</a:t>
            </a:r>
            <a:endParaRPr lang="en-US" sz="105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1 · EXECUTIVE OVERVIEW</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Does Age Affect Productivity?</a:t>
            </a:r>
            <a:endParaRPr lang="en-US" sz="2400" dirty="0"/>
          </a:p>
        </p:txBody>
      </p:sp>
      <p:sp>
        <p:nvSpPr>
          <p:cNvPr id="4" name="Shape 2"/>
          <p:cNvSpPr/>
          <p:nvPr/>
        </p:nvSpPr>
        <p:spPr>
          <a:xfrm>
            <a:off x="640080" y="1234440"/>
            <a:ext cx="685800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6400800" cy="457200"/>
          </a:xfrm>
          <a:prstGeom prst="rect">
            <a:avLst/>
          </a:prstGeom>
          <a:noFill/>
          <a:ln/>
        </p:spPr>
        <p:txBody>
          <a:bodyPr wrap="square" rtlCol="0" anchor="ctr"/>
          <a:lstStyle/>
          <a:p>
            <a:pPr indent="0" marL="0">
              <a:buNone/>
            </a:pPr>
            <a:r>
              <a:rPr lang="en-US" sz="1400" b="1" dirty="0">
                <a:solidFill>
                  <a:srgbClr val="1B3A4B"/>
                </a:solidFill>
                <a:latin typeface="Cambria" pitchFamily="34" charset="0"/>
                <a:ea typeface="Cambria" pitchFamily="34" charset="-122"/>
                <a:cs typeface="Cambria" pitchFamily="34" charset="-120"/>
              </a:rPr>
              <a:t>Avg. Actual Productivity by Age Group</a:t>
            </a:r>
            <a:endParaRPr lang="en-US" sz="1400" dirty="0"/>
          </a:p>
        </p:txBody>
      </p:sp>
      <p:graphicFrame>
        <p:nvGraphicFramePr>
          <p:cNvPr id="6" name="Chart 0" descr=""/>
          <p:cNvGraphicFramePr/>
          <p:nvPr/>
        </p:nvGraphicFramePr>
        <p:xfrm>
          <a:off x="822960" y="187452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80960" y="1234440"/>
            <a:ext cx="3886200" cy="4892040"/>
          </a:xfrm>
          <a:prstGeom prst="roundRect">
            <a:avLst>
              <a:gd name="adj" fmla="val 2353"/>
            </a:avLst>
          </a:prstGeom>
          <a:solidFill>
            <a:srgbClr val="1B3A4B"/>
          </a:solidFill>
          <a:ln/>
          <a:effectLst>
            <a:outerShdw sx="100000" sy="100000" kx="0" ky="0" algn="bl" rotWithShape="0" blurRad="127000" dist="38100" dir="5400000">
              <a:srgbClr val="0B2530">
                <a:alpha val="12000"/>
              </a:srgbClr>
            </a:outerShdw>
          </a:effectLst>
        </p:spPr>
      </p:sp>
      <p:sp>
        <p:nvSpPr>
          <p:cNvPr id="8" name="Shape 5"/>
          <p:cNvSpPr/>
          <p:nvPr/>
        </p:nvSpPr>
        <p:spPr>
          <a:xfrm>
            <a:off x="7955280" y="1508760"/>
            <a:ext cx="548640" cy="548640"/>
          </a:xfrm>
          <a:prstGeom prst="ellipse">
            <a:avLst/>
          </a:prstGeom>
          <a:solidFill>
            <a:srgbClr val="02C39A"/>
          </a:solidFill>
          <a:ln/>
        </p:spPr>
      </p:sp>
      <p:pic>
        <p:nvPicPr>
          <p:cNvPr id="9" name="Image 0" descr="/home/claude/deck/icons/chartline_navy.png">    </p:cNvPr>
          <p:cNvPicPr>
            <a:picLocks noChangeAspect="1"/>
          </p:cNvPicPr>
          <p:nvPr/>
        </p:nvPicPr>
        <p:blipFill>
          <a:blip r:embed="rId2"/>
          <a:stretch>
            <a:fillRect/>
          </a:stretch>
        </p:blipFill>
        <p:spPr>
          <a:xfrm>
            <a:off x="8086954" y="1640434"/>
            <a:ext cx="285293" cy="285293"/>
          </a:xfrm>
          <a:prstGeom prst="rect">
            <a:avLst/>
          </a:prstGeom>
        </p:spPr>
      </p:pic>
      <p:sp>
        <p:nvSpPr>
          <p:cNvPr id="10" name="Text 6"/>
          <p:cNvSpPr/>
          <p:nvPr/>
        </p:nvSpPr>
        <p:spPr>
          <a:xfrm>
            <a:off x="7955280" y="2194560"/>
            <a:ext cx="3291840" cy="457200"/>
          </a:xfrm>
          <a:prstGeom prst="rect">
            <a:avLst/>
          </a:prstGeom>
          <a:noFill/>
          <a:ln/>
        </p:spPr>
        <p:txBody>
          <a:bodyPr wrap="square"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Reading</a:t>
            </a:r>
            <a:endParaRPr lang="en-US" sz="1500" dirty="0"/>
          </a:p>
        </p:txBody>
      </p:sp>
      <p:sp>
        <p:nvSpPr>
          <p:cNvPr id="11" name="Text 7"/>
          <p:cNvSpPr/>
          <p:nvPr/>
        </p:nvSpPr>
        <p:spPr>
          <a:xfrm>
            <a:off x="7955280" y="2697480"/>
            <a:ext cx="3337560" cy="3291840"/>
          </a:xfrm>
          <a:prstGeom prst="rect">
            <a:avLst/>
          </a:prstGeom>
          <a:noFill/>
          <a:ln/>
        </p:spPr>
        <p:txBody>
          <a:bodyPr wrap="square" rtlCol="0" anchor="t"/>
          <a:lstStyle/>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Every age band lands between 4.91 and 4.99 out of 10 — a spread of just 0.08 points.</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The oldest (55+) and mid-career (35-44) groups edge out the youngest (18-24) group slightly.</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Practically, age explains almost nothing about productivity in this dataset.</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This sets the tone for the whole report: demographic and behavioral splits rarely move the outcome metrics.</a:t>
            </a:r>
            <a:endParaRPr lang="en-US" sz="110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2 · SOCIAL MEDIA IMPACT</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Productivity by Job Type &amp; Usage Level</a:t>
            </a:r>
            <a:endParaRPr lang="en-US" sz="2400" dirty="0"/>
          </a:p>
        </p:txBody>
      </p:sp>
      <p:sp>
        <p:nvSpPr>
          <p:cNvPr id="4" name="Shape 2"/>
          <p:cNvSpPr/>
          <p:nvPr/>
        </p:nvSpPr>
        <p:spPr>
          <a:xfrm>
            <a:off x="640080" y="1234440"/>
            <a:ext cx="685800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6400800" cy="457200"/>
          </a:xfrm>
          <a:prstGeom prst="rect">
            <a:avLst/>
          </a:prstGeom>
          <a:noFill/>
          <a:ln/>
        </p:spPr>
        <p:txBody>
          <a:bodyPr wrap="square" rtlCol="0" anchor="ctr"/>
          <a:lstStyle/>
          <a:p>
            <a:pPr indent="0" marL="0">
              <a:buNone/>
            </a:pPr>
            <a:r>
              <a:rPr lang="en-US" sz="1400" b="1" dirty="0">
                <a:solidFill>
                  <a:srgbClr val="1B3A4B"/>
                </a:solidFill>
                <a:latin typeface="Cambria" pitchFamily="34" charset="0"/>
                <a:ea typeface="Cambria" pitchFamily="34" charset="-122"/>
                <a:cs typeface="Cambria" pitchFamily="34" charset="-120"/>
              </a:rPr>
              <a:t>Avg. Actual Productivity — Job Type × Social Media Usage</a:t>
            </a:r>
            <a:endParaRPr lang="en-US" sz="1400" dirty="0"/>
          </a:p>
        </p:txBody>
      </p:sp>
      <p:graphicFrame>
        <p:nvGraphicFramePr>
          <p:cNvPr id="6" name="Chart 0" descr=""/>
          <p:cNvGraphicFramePr/>
          <p:nvPr/>
        </p:nvGraphicFramePr>
        <p:xfrm>
          <a:off x="822960" y="187452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80960" y="1234440"/>
            <a:ext cx="3886200" cy="4892040"/>
          </a:xfrm>
          <a:prstGeom prst="roundRect">
            <a:avLst>
              <a:gd name="adj" fmla="val 2353"/>
            </a:avLst>
          </a:prstGeom>
          <a:solidFill>
            <a:srgbClr val="1B3A4B"/>
          </a:solidFill>
          <a:ln/>
          <a:effectLst>
            <a:outerShdw sx="100000" sy="100000" kx="0" ky="0" algn="bl" rotWithShape="0" blurRad="127000" dist="38100" dir="5400000">
              <a:srgbClr val="0B2530">
                <a:alpha val="12000"/>
              </a:srgbClr>
            </a:outerShdw>
          </a:effectLst>
        </p:spPr>
      </p:sp>
      <p:sp>
        <p:nvSpPr>
          <p:cNvPr id="8" name="Shape 5"/>
          <p:cNvSpPr/>
          <p:nvPr/>
        </p:nvSpPr>
        <p:spPr>
          <a:xfrm>
            <a:off x="7955280" y="1508760"/>
            <a:ext cx="548640" cy="548640"/>
          </a:xfrm>
          <a:prstGeom prst="ellipse">
            <a:avLst/>
          </a:prstGeom>
          <a:solidFill>
            <a:srgbClr val="02C39A"/>
          </a:solidFill>
          <a:ln/>
        </p:spPr>
      </p:sp>
      <p:pic>
        <p:nvPicPr>
          <p:cNvPr id="9" name="Image 0" descr="/home/claude/deck/icons/chartline_navy.png">    </p:cNvPr>
          <p:cNvPicPr>
            <a:picLocks noChangeAspect="1"/>
          </p:cNvPicPr>
          <p:nvPr/>
        </p:nvPicPr>
        <p:blipFill>
          <a:blip r:embed="rId2"/>
          <a:stretch>
            <a:fillRect/>
          </a:stretch>
        </p:blipFill>
        <p:spPr>
          <a:xfrm>
            <a:off x="8086954" y="1640434"/>
            <a:ext cx="285293" cy="285293"/>
          </a:xfrm>
          <a:prstGeom prst="rect">
            <a:avLst/>
          </a:prstGeom>
        </p:spPr>
      </p:pic>
      <p:sp>
        <p:nvSpPr>
          <p:cNvPr id="10" name="Text 6"/>
          <p:cNvSpPr/>
          <p:nvPr/>
        </p:nvSpPr>
        <p:spPr>
          <a:xfrm>
            <a:off x="7955280" y="2194560"/>
            <a:ext cx="3291840" cy="457200"/>
          </a:xfrm>
          <a:prstGeom prst="rect">
            <a:avLst/>
          </a:prstGeom>
          <a:noFill/>
          <a:ln/>
        </p:spPr>
        <p:txBody>
          <a:bodyPr wrap="square"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Original Chart: Scatter</a:t>
            </a:r>
            <a:endParaRPr lang="en-US" sz="1500" dirty="0"/>
          </a:p>
        </p:txBody>
      </p:sp>
      <p:sp>
        <p:nvSpPr>
          <p:cNvPr id="11" name="Text 7"/>
          <p:cNvSpPr/>
          <p:nvPr/>
        </p:nvSpPr>
        <p:spPr>
          <a:xfrm>
            <a:off x="7955280" y="2697480"/>
            <a:ext cx="3337560" cy="3291840"/>
          </a:xfrm>
          <a:prstGeom prst="rect">
            <a:avLst/>
          </a:prstGeom>
          <a:noFill/>
          <a:ln/>
        </p:spPr>
        <p:txBody>
          <a:bodyPr wrap="square" rtlCol="0" anchor="t"/>
          <a:lstStyle/>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The live report uses a scatter plot with job type and usage group as dimensions — shown here as a grouped column chart for a static view.</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Every job type stays within a ~0.2-point band across usage levels, except Health at Very High Usage (4.75, the single lowest cell).</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There's no job type where heavier usage clearly and consistently drags productivity down.</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Health + Very High Usage is worth a follow-up look, but the sample there is small.</a:t>
            </a:r>
            <a:endParaRPr lang="en-US" sz="110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2 · SOCIAL MEDIA IMPACT</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Usage Group vs. Satisfaction &amp; Productivity Gap</a:t>
            </a:r>
            <a:endParaRPr lang="en-US" sz="2400" dirty="0"/>
          </a:p>
        </p:txBody>
      </p:sp>
      <p:sp>
        <p:nvSpPr>
          <p:cNvPr id="4" name="Shape 2"/>
          <p:cNvSpPr/>
          <p:nvPr/>
        </p:nvSpPr>
        <p:spPr>
          <a:xfrm>
            <a:off x="640080"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Job Satisfaction (Sum) by Usage Group</a:t>
            </a:r>
            <a:endParaRPr lang="en-US" sz="1300" dirty="0"/>
          </a:p>
        </p:txBody>
      </p:sp>
      <p:graphicFrame>
        <p:nvGraphicFramePr>
          <p:cNvPr id="6" name="Chart 0" descr=""/>
          <p:cNvGraphicFramePr/>
          <p:nvPr/>
        </p:nvGraphicFramePr>
        <p:xfrm>
          <a:off x="822960" y="1828800"/>
          <a:ext cx="4937760" cy="2514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68680"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This is a sum, not an average — it simply mirrors group size (Medium Usage has the most users at 13,034). It doesn't show a per-person satisfaction effect.</a:t>
            </a:r>
            <a:endParaRPr lang="en-US" sz="1050" dirty="0"/>
          </a:p>
        </p:txBody>
      </p:sp>
      <p:sp>
        <p:nvSpPr>
          <p:cNvPr id="8" name="Shape 5"/>
          <p:cNvSpPr/>
          <p:nvPr/>
        </p:nvSpPr>
        <p:spPr>
          <a:xfrm>
            <a:off x="6245352"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9" name="Text 6"/>
          <p:cNvSpPr/>
          <p:nvPr/>
        </p:nvSpPr>
        <p:spPr>
          <a:xfrm>
            <a:off x="6473952"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Productivity Gap by Usage Group</a:t>
            </a:r>
            <a:endParaRPr lang="en-US" sz="1300" dirty="0"/>
          </a:p>
        </p:txBody>
      </p:sp>
      <p:graphicFrame>
        <p:nvGraphicFramePr>
          <p:cNvPr id="10" name="Chart 1" descr=""/>
          <p:cNvGraphicFramePr/>
          <p:nvPr/>
        </p:nvGraphicFramePr>
        <p:xfrm>
          <a:off x="6428232" y="1828800"/>
          <a:ext cx="4937760" cy="25146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473952"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The gap between how productive people feel and how productive they actually are stays tight (0.55-0.57 pts) no matter how much they use social media.</a:t>
            </a:r>
            <a:endParaRPr lang="en-US" sz="105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2 · SOCIAL MEDIA IMPACT</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Notifications &amp; Focus Habits</a:t>
            </a:r>
            <a:endParaRPr lang="en-US" sz="2400" dirty="0"/>
          </a:p>
        </p:txBody>
      </p:sp>
      <p:sp>
        <p:nvSpPr>
          <p:cNvPr id="4" name="Shape 2"/>
          <p:cNvSpPr/>
          <p:nvPr/>
        </p:nvSpPr>
        <p:spPr>
          <a:xfrm>
            <a:off x="640080"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Avg. Stress by Notification Group</a:t>
            </a:r>
            <a:endParaRPr lang="en-US" sz="1300" dirty="0"/>
          </a:p>
        </p:txBody>
      </p:sp>
      <p:graphicFrame>
        <p:nvGraphicFramePr>
          <p:cNvPr id="6" name="Chart 0" descr=""/>
          <p:cNvGraphicFramePr/>
          <p:nvPr/>
        </p:nvGraphicFramePr>
        <p:xfrm>
          <a:off x="822960" y="1828800"/>
          <a:ext cx="4937760" cy="2514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68680"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Counter to intuition, the Very High notification group (80+/day) reports the lowest stress (5.27) — though it's a thin slice of just 177 users, so treat it as a curiosity, not a trend.</a:t>
            </a:r>
            <a:endParaRPr lang="en-US" sz="1050" dirty="0"/>
          </a:p>
        </p:txBody>
      </p:sp>
      <p:sp>
        <p:nvSpPr>
          <p:cNvPr id="8" name="Shape 5"/>
          <p:cNvSpPr/>
          <p:nvPr/>
        </p:nvSpPr>
        <p:spPr>
          <a:xfrm>
            <a:off x="6245352"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9" name="Text 6"/>
          <p:cNvSpPr/>
          <p:nvPr/>
        </p:nvSpPr>
        <p:spPr>
          <a:xfrm>
            <a:off x="6473952"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Users by Focus-App Usage</a:t>
            </a:r>
            <a:endParaRPr lang="en-US" sz="1300" dirty="0"/>
          </a:p>
        </p:txBody>
      </p:sp>
      <p:graphicFrame>
        <p:nvGraphicFramePr>
          <p:cNvPr id="10" name="Chart 1" descr=""/>
          <p:cNvGraphicFramePr/>
          <p:nvPr/>
        </p:nvGraphicFramePr>
        <p:xfrm>
          <a:off x="6428232" y="1828800"/>
          <a:ext cx="4937760" cy="25146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473952"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Only 30% of respondents (9,021) use a focus/productivity app. Given productivity is flat across nearly every segment, this is a candidate for a deeper causal test outside this dataset.</a:t>
            </a:r>
            <a:endParaRPr lang="en-US" sz="105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2 · SOCIAL MEDIA IMPACT</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Notification Load Distribution</a:t>
            </a:r>
            <a:endParaRPr lang="en-US" sz="2400" dirty="0"/>
          </a:p>
        </p:txBody>
      </p:sp>
      <p:sp>
        <p:nvSpPr>
          <p:cNvPr id="4" name="Shape 2"/>
          <p:cNvSpPr/>
          <p:nvPr/>
        </p:nvSpPr>
        <p:spPr>
          <a:xfrm>
            <a:off x="640080" y="1234440"/>
            <a:ext cx="685800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6400800" cy="457200"/>
          </a:xfrm>
          <a:prstGeom prst="rect">
            <a:avLst/>
          </a:prstGeom>
          <a:noFill/>
          <a:ln/>
        </p:spPr>
        <p:txBody>
          <a:bodyPr wrap="square" rtlCol="0" anchor="ctr"/>
          <a:lstStyle/>
          <a:p>
            <a:pPr indent="0" marL="0">
              <a:buNone/>
            </a:pPr>
            <a:r>
              <a:rPr lang="en-US" sz="1400" b="1" dirty="0">
                <a:solidFill>
                  <a:srgbClr val="1B3A4B"/>
                </a:solidFill>
                <a:latin typeface="Cambria" pitchFamily="34" charset="0"/>
                <a:ea typeface="Cambria" pitchFamily="34" charset="-122"/>
                <a:cs typeface="Cambria" pitchFamily="34" charset="-120"/>
              </a:rPr>
              <a:t>Users by Notification Group</a:t>
            </a:r>
            <a:endParaRPr lang="en-US" sz="1400" dirty="0"/>
          </a:p>
        </p:txBody>
      </p:sp>
      <p:graphicFrame>
        <p:nvGraphicFramePr>
          <p:cNvPr id="6" name="Chart 0" descr=""/>
          <p:cNvGraphicFramePr/>
          <p:nvPr/>
        </p:nvGraphicFramePr>
        <p:xfrm>
          <a:off x="822960" y="187452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80960" y="1234440"/>
            <a:ext cx="3886200" cy="4892040"/>
          </a:xfrm>
          <a:prstGeom prst="roundRect">
            <a:avLst>
              <a:gd name="adj" fmla="val 2353"/>
            </a:avLst>
          </a:prstGeom>
          <a:solidFill>
            <a:srgbClr val="1B3A4B"/>
          </a:solidFill>
          <a:ln/>
          <a:effectLst>
            <a:outerShdw sx="100000" sy="100000" kx="0" ky="0" algn="bl" rotWithShape="0" blurRad="127000" dist="38100" dir="5400000">
              <a:srgbClr val="0B2530">
                <a:alpha val="12000"/>
              </a:srgbClr>
            </a:outerShdw>
          </a:effectLst>
        </p:spPr>
      </p:sp>
      <p:sp>
        <p:nvSpPr>
          <p:cNvPr id="8" name="Shape 5"/>
          <p:cNvSpPr/>
          <p:nvPr/>
        </p:nvSpPr>
        <p:spPr>
          <a:xfrm>
            <a:off x="7955280" y="1508760"/>
            <a:ext cx="548640" cy="548640"/>
          </a:xfrm>
          <a:prstGeom prst="ellipse">
            <a:avLst/>
          </a:prstGeom>
          <a:solidFill>
            <a:srgbClr val="02C39A"/>
          </a:solidFill>
          <a:ln/>
        </p:spPr>
      </p:sp>
      <p:pic>
        <p:nvPicPr>
          <p:cNvPr id="9" name="Image 0" descr="/home/claude/deck/icons/chartline_navy.png">    </p:cNvPr>
          <p:cNvPicPr>
            <a:picLocks noChangeAspect="1"/>
          </p:cNvPicPr>
          <p:nvPr/>
        </p:nvPicPr>
        <p:blipFill>
          <a:blip r:embed="rId2"/>
          <a:stretch>
            <a:fillRect/>
          </a:stretch>
        </p:blipFill>
        <p:spPr>
          <a:xfrm>
            <a:off x="8086954" y="1640434"/>
            <a:ext cx="285293" cy="285293"/>
          </a:xfrm>
          <a:prstGeom prst="rect">
            <a:avLst/>
          </a:prstGeom>
        </p:spPr>
      </p:pic>
      <p:sp>
        <p:nvSpPr>
          <p:cNvPr id="10" name="Text 6"/>
          <p:cNvSpPr/>
          <p:nvPr/>
        </p:nvSpPr>
        <p:spPr>
          <a:xfrm>
            <a:off x="7955280" y="2194560"/>
            <a:ext cx="3291840" cy="457200"/>
          </a:xfrm>
          <a:prstGeom prst="rect">
            <a:avLst/>
          </a:prstGeom>
          <a:noFill/>
          <a:ln/>
        </p:spPr>
        <p:txBody>
          <a:bodyPr wrap="square"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Reading</a:t>
            </a:r>
            <a:endParaRPr lang="en-US" sz="1500" dirty="0"/>
          </a:p>
        </p:txBody>
      </p:sp>
      <p:sp>
        <p:nvSpPr>
          <p:cNvPr id="11" name="Text 7"/>
          <p:cNvSpPr/>
          <p:nvPr/>
        </p:nvSpPr>
        <p:spPr>
          <a:xfrm>
            <a:off x="7955280" y="2697480"/>
            <a:ext cx="3337560" cy="3291840"/>
          </a:xfrm>
          <a:prstGeom prst="rect">
            <a:avLst/>
          </a:prstGeom>
          <a:noFill/>
          <a:ln/>
        </p:spPr>
        <p:txBody>
          <a:bodyPr wrap="square" rtlCol="0" anchor="t"/>
          <a:lstStyle/>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88.7% of all respondents (26,595 of 30,000) receive 51-80 notifications a day — the sample is heavily concentrated in one band.</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Only 177 people (0.6%) are in the Very High (80+) group, which is why that segment's numbers on other charts should be read cautiously.</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This concentration is itself a useful caveat for the whole dashboard: cross-usage comparisons mostly compare 'High' against small minorities.</a:t>
            </a:r>
            <a:endParaRPr lang="en-US" sz="110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3 · PRODUCTIVITY ANALYSIS</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Offline Time &amp; Work Hours</a:t>
            </a:r>
            <a:endParaRPr lang="en-US" sz="2400" dirty="0"/>
          </a:p>
        </p:txBody>
      </p:sp>
      <p:sp>
        <p:nvSpPr>
          <p:cNvPr id="4" name="Shape 2"/>
          <p:cNvSpPr/>
          <p:nvPr/>
        </p:nvSpPr>
        <p:spPr>
          <a:xfrm>
            <a:off x="640080"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Avg. Productivity by Weekly Offline Hours</a:t>
            </a:r>
            <a:endParaRPr lang="en-US" sz="1300" dirty="0"/>
          </a:p>
        </p:txBody>
      </p:sp>
      <p:graphicFrame>
        <p:nvGraphicFramePr>
          <p:cNvPr id="6" name="Chart 0" descr=""/>
          <p:cNvGraphicFramePr/>
          <p:nvPr/>
        </p:nvGraphicFramePr>
        <p:xfrm>
          <a:off x="822960" y="1828800"/>
          <a:ext cx="4937760" cy="2514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68680"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Shown as a treemap in the live report. Productivity is flat (4.93-4.96) whether someone unplugs a little or a lot each week.</a:t>
            </a:r>
            <a:endParaRPr lang="en-US" sz="1050" dirty="0"/>
          </a:p>
        </p:txBody>
      </p:sp>
      <p:sp>
        <p:nvSpPr>
          <p:cNvPr id="8" name="Shape 5"/>
          <p:cNvSpPr/>
          <p:nvPr/>
        </p:nvSpPr>
        <p:spPr>
          <a:xfrm>
            <a:off x="6245352"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9" name="Text 6"/>
          <p:cNvSpPr/>
          <p:nvPr/>
        </p:nvSpPr>
        <p:spPr>
          <a:xfrm>
            <a:off x="6473952"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Avg. Productivity by Work Hours Group</a:t>
            </a:r>
            <a:endParaRPr lang="en-US" sz="1300" dirty="0"/>
          </a:p>
        </p:txBody>
      </p:sp>
      <p:graphicFrame>
        <p:nvGraphicFramePr>
          <p:cNvPr id="10" name="Chart 1" descr=""/>
          <p:cNvGraphicFramePr/>
          <p:nvPr/>
        </p:nvGraphicFramePr>
        <p:xfrm>
          <a:off x="6428232" y="1828800"/>
          <a:ext cx="4937760" cy="25146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473952"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Working longer hours (Overworked) doesn't buy more output, and working fewer hours (Short) doesn't cost any either — all three groups sit at ~4.94-4.96.</a:t>
            </a:r>
            <a:endParaRPr lang="en-US" sz="105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3 · PRODUCTIVITY ANALYSIS</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What Actually Moves Productivity</a:t>
            </a:r>
            <a:endParaRPr lang="en-US" sz="2400" dirty="0"/>
          </a:p>
        </p:txBody>
      </p:sp>
      <p:sp>
        <p:nvSpPr>
          <p:cNvPr id="4" name="Shape 2"/>
          <p:cNvSpPr/>
          <p:nvPr/>
        </p:nvSpPr>
        <p:spPr>
          <a:xfrm>
            <a:off x="640080"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Avg. Productivity by Job Satisfaction Group</a:t>
            </a:r>
            <a:endParaRPr lang="en-US" sz="1300" dirty="0"/>
          </a:p>
        </p:txBody>
      </p:sp>
      <p:graphicFrame>
        <p:nvGraphicFramePr>
          <p:cNvPr id="6" name="Chart 0" descr=""/>
          <p:cNvGraphicFramePr/>
          <p:nvPr/>
        </p:nvGraphicFramePr>
        <p:xfrm>
          <a:off x="822960" y="1828800"/>
          <a:ext cx="4937760" cy="2514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68680"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This is the strongest relationship in the entire report — a 3.9-point swing from Low to High satisfaction. Nothing else in the dataset comes close.</a:t>
            </a:r>
            <a:endParaRPr lang="en-US" sz="1050" dirty="0"/>
          </a:p>
        </p:txBody>
      </p:sp>
      <p:sp>
        <p:nvSpPr>
          <p:cNvPr id="8" name="Shape 5"/>
          <p:cNvSpPr/>
          <p:nvPr/>
        </p:nvSpPr>
        <p:spPr>
          <a:xfrm>
            <a:off x="6245352"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9" name="Text 6"/>
          <p:cNvSpPr/>
          <p:nvPr/>
        </p:nvSpPr>
        <p:spPr>
          <a:xfrm>
            <a:off x="6473952"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Productivity Gap by Job Type</a:t>
            </a:r>
            <a:endParaRPr lang="en-US" sz="1300" dirty="0"/>
          </a:p>
        </p:txBody>
      </p:sp>
      <p:graphicFrame>
        <p:nvGraphicFramePr>
          <p:cNvPr id="10" name="Chart 1" descr=""/>
          <p:cNvGraphicFramePr/>
          <p:nvPr/>
        </p:nvGraphicFramePr>
        <p:xfrm>
          <a:off x="6428232" y="1828800"/>
          <a:ext cx="4937760" cy="25146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473952"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Finance professionals self-rate closest to their actual output (0.54 gap); Students over-rate themselves slightly more (0.57) — but the spread is tiny either way.</a:t>
            </a:r>
            <a:endParaRPr lang="en-US" sz="105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4 · SLEEP IMPACT</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Sleep vs. Productivity &amp; the Perception Gap</a:t>
            </a:r>
            <a:endParaRPr lang="en-US" sz="2400" dirty="0"/>
          </a:p>
        </p:txBody>
      </p:sp>
      <p:sp>
        <p:nvSpPr>
          <p:cNvPr id="4" name="Shape 2"/>
          <p:cNvSpPr/>
          <p:nvPr/>
        </p:nvSpPr>
        <p:spPr>
          <a:xfrm>
            <a:off x="640080"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Avg. Productivity by Sleep Group</a:t>
            </a:r>
            <a:endParaRPr lang="en-US" sz="1300" dirty="0"/>
          </a:p>
        </p:txBody>
      </p:sp>
      <p:graphicFrame>
        <p:nvGraphicFramePr>
          <p:cNvPr id="6" name="Chart 0" descr=""/>
          <p:cNvGraphicFramePr/>
          <p:nvPr/>
        </p:nvGraphicFramePr>
        <p:xfrm>
          <a:off x="822960" y="1828800"/>
          <a:ext cx="4937760" cy="2514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68680"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Counterintuitively, Very Low Sleep respondents show the highest average productivity (4.98) and High Sleep the lowest (4.92) — the effect is tiny and likely noise, but there's no positive sleep benefit here.</a:t>
            </a:r>
            <a:endParaRPr lang="en-US" sz="1050" dirty="0"/>
          </a:p>
        </p:txBody>
      </p:sp>
      <p:sp>
        <p:nvSpPr>
          <p:cNvPr id="8" name="Shape 5"/>
          <p:cNvSpPr/>
          <p:nvPr/>
        </p:nvSpPr>
        <p:spPr>
          <a:xfrm>
            <a:off x="6245352"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9" name="Text 6"/>
          <p:cNvSpPr/>
          <p:nvPr/>
        </p:nvSpPr>
        <p:spPr>
          <a:xfrm>
            <a:off x="6473952"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Productivity Gap by Sleep Group</a:t>
            </a:r>
            <a:endParaRPr lang="en-US" sz="1300" dirty="0"/>
          </a:p>
        </p:txBody>
      </p:sp>
      <p:graphicFrame>
        <p:nvGraphicFramePr>
          <p:cNvPr id="10" name="Chart 1" descr=""/>
          <p:cNvGraphicFramePr/>
          <p:nvPr/>
        </p:nvGraphicFramePr>
        <p:xfrm>
          <a:off x="6428232" y="1828800"/>
          <a:ext cx="4937760" cy="25146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473952"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The one place sleep shows a real pattern: people who sleep the least over-rate their productivity the most (0.588 gap vs. 0.546 for Normal Sleep) — self-awareness may dip with fatigue.</a:t>
            </a:r>
            <a:endParaRPr lang="en-US" sz="105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4 · SLEEP IMPACT</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Burnout &amp; Job Satisfaction by Rest Patterns</a:t>
            </a:r>
            <a:endParaRPr lang="en-US" sz="2400" dirty="0"/>
          </a:p>
        </p:txBody>
      </p:sp>
      <p:sp>
        <p:nvSpPr>
          <p:cNvPr id="4" name="Shape 2"/>
          <p:cNvSpPr/>
          <p:nvPr/>
        </p:nvSpPr>
        <p:spPr>
          <a:xfrm>
            <a:off x="640080"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Avg. Burnout Days by Sleep Group</a:t>
            </a:r>
            <a:endParaRPr lang="en-US" sz="1300" dirty="0"/>
          </a:p>
        </p:txBody>
      </p:sp>
      <p:graphicFrame>
        <p:nvGraphicFramePr>
          <p:cNvPr id="6" name="Chart 0" descr=""/>
          <p:cNvGraphicFramePr/>
          <p:nvPr/>
        </p:nvGraphicFramePr>
        <p:xfrm>
          <a:off x="822960" y="1828800"/>
          <a:ext cx="4937760" cy="2514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68680"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Burnout stays in a narrow 15.2-15.7 day band regardless of sleep group — even High Sleep respondents burn out almost as often as everyone else.</a:t>
            </a:r>
            <a:endParaRPr lang="en-US" sz="1050" dirty="0"/>
          </a:p>
        </p:txBody>
      </p:sp>
      <p:sp>
        <p:nvSpPr>
          <p:cNvPr id="8" name="Shape 5"/>
          <p:cNvSpPr/>
          <p:nvPr/>
        </p:nvSpPr>
        <p:spPr>
          <a:xfrm>
            <a:off x="6245352"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9" name="Text 6"/>
          <p:cNvSpPr/>
          <p:nvPr/>
        </p:nvSpPr>
        <p:spPr>
          <a:xfrm>
            <a:off x="6473952"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Job Satisfaction by Weekly Offline Hours</a:t>
            </a:r>
            <a:endParaRPr lang="en-US" sz="1300" dirty="0"/>
          </a:p>
        </p:txBody>
      </p:sp>
      <p:graphicFrame>
        <p:nvGraphicFramePr>
          <p:cNvPr id="10" name="Chart 1" descr=""/>
          <p:cNvGraphicFramePr/>
          <p:nvPr/>
        </p:nvGraphicFramePr>
        <p:xfrm>
          <a:off x="6428232" y="1828800"/>
          <a:ext cx="4937760" cy="25146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473952"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Shown as a treemap in the live report. Job satisfaction barely moves (4.95-4.98) whether someone spends a lot or a little time offline each week.</a:t>
            </a:r>
            <a:endParaRPr lang="en-US" sz="105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4 · SLEEP IMPACT</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Does Better Sleep Lower Stress?</a:t>
            </a:r>
            <a:endParaRPr lang="en-US" sz="2400" dirty="0"/>
          </a:p>
        </p:txBody>
      </p:sp>
      <p:sp>
        <p:nvSpPr>
          <p:cNvPr id="4" name="Shape 2"/>
          <p:cNvSpPr/>
          <p:nvPr/>
        </p:nvSpPr>
        <p:spPr>
          <a:xfrm>
            <a:off x="640080" y="1234440"/>
            <a:ext cx="685800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6400800" cy="457200"/>
          </a:xfrm>
          <a:prstGeom prst="rect">
            <a:avLst/>
          </a:prstGeom>
          <a:noFill/>
          <a:ln/>
        </p:spPr>
        <p:txBody>
          <a:bodyPr wrap="square" rtlCol="0" anchor="ctr"/>
          <a:lstStyle/>
          <a:p>
            <a:pPr indent="0" marL="0">
              <a:buNone/>
            </a:pPr>
            <a:r>
              <a:rPr lang="en-US" sz="1400" b="1" dirty="0">
                <a:solidFill>
                  <a:srgbClr val="1B3A4B"/>
                </a:solidFill>
                <a:latin typeface="Cambria" pitchFamily="34" charset="0"/>
                <a:ea typeface="Cambria" pitchFamily="34" charset="-122"/>
                <a:cs typeface="Cambria" pitchFamily="34" charset="-120"/>
              </a:rPr>
              <a:t>Avg. Stress Level by Sleep Group</a:t>
            </a:r>
            <a:endParaRPr lang="en-US" sz="1400" dirty="0"/>
          </a:p>
        </p:txBody>
      </p:sp>
      <p:graphicFrame>
        <p:nvGraphicFramePr>
          <p:cNvPr id="6" name="Chart 0" descr=""/>
          <p:cNvGraphicFramePr/>
          <p:nvPr/>
        </p:nvGraphicFramePr>
        <p:xfrm>
          <a:off x="822960" y="187452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80960" y="1234440"/>
            <a:ext cx="3886200" cy="4892040"/>
          </a:xfrm>
          <a:prstGeom prst="roundRect">
            <a:avLst>
              <a:gd name="adj" fmla="val 2353"/>
            </a:avLst>
          </a:prstGeom>
          <a:solidFill>
            <a:srgbClr val="1B3A4B"/>
          </a:solidFill>
          <a:ln/>
          <a:effectLst>
            <a:outerShdw sx="100000" sy="100000" kx="0" ky="0" algn="bl" rotWithShape="0" blurRad="127000" dist="38100" dir="5400000">
              <a:srgbClr val="0B2530">
                <a:alpha val="12000"/>
              </a:srgbClr>
            </a:outerShdw>
          </a:effectLst>
        </p:spPr>
      </p:sp>
      <p:sp>
        <p:nvSpPr>
          <p:cNvPr id="8" name="Shape 5"/>
          <p:cNvSpPr/>
          <p:nvPr/>
        </p:nvSpPr>
        <p:spPr>
          <a:xfrm>
            <a:off x="7955280" y="1508760"/>
            <a:ext cx="548640" cy="548640"/>
          </a:xfrm>
          <a:prstGeom prst="ellipse">
            <a:avLst/>
          </a:prstGeom>
          <a:solidFill>
            <a:srgbClr val="02C39A"/>
          </a:solidFill>
          <a:ln/>
        </p:spPr>
      </p:sp>
      <p:pic>
        <p:nvPicPr>
          <p:cNvPr id="9" name="Image 0" descr="/home/claude/deck/icons/chartline_navy.png">    </p:cNvPr>
          <p:cNvPicPr>
            <a:picLocks noChangeAspect="1"/>
          </p:cNvPicPr>
          <p:nvPr/>
        </p:nvPicPr>
        <p:blipFill>
          <a:blip r:embed="rId2"/>
          <a:stretch>
            <a:fillRect/>
          </a:stretch>
        </p:blipFill>
        <p:spPr>
          <a:xfrm>
            <a:off x="8086954" y="1640434"/>
            <a:ext cx="285293" cy="285293"/>
          </a:xfrm>
          <a:prstGeom prst="rect">
            <a:avLst/>
          </a:prstGeom>
        </p:spPr>
      </p:pic>
      <p:sp>
        <p:nvSpPr>
          <p:cNvPr id="10" name="Text 6"/>
          <p:cNvSpPr/>
          <p:nvPr/>
        </p:nvSpPr>
        <p:spPr>
          <a:xfrm>
            <a:off x="7955280" y="2194560"/>
            <a:ext cx="3291840" cy="457200"/>
          </a:xfrm>
          <a:prstGeom prst="rect">
            <a:avLst/>
          </a:prstGeom>
          <a:noFill/>
          <a:ln/>
        </p:spPr>
        <p:txBody>
          <a:bodyPr wrap="square"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Reading</a:t>
            </a:r>
            <a:endParaRPr lang="en-US" sz="1500" dirty="0"/>
          </a:p>
        </p:txBody>
      </p:sp>
      <p:sp>
        <p:nvSpPr>
          <p:cNvPr id="11" name="Text 7"/>
          <p:cNvSpPr/>
          <p:nvPr/>
        </p:nvSpPr>
        <p:spPr>
          <a:xfrm>
            <a:off x="7955280" y="2697480"/>
            <a:ext cx="3337560" cy="3291840"/>
          </a:xfrm>
          <a:prstGeom prst="rect">
            <a:avLst/>
          </a:prstGeom>
          <a:noFill/>
          <a:ln/>
        </p:spPr>
        <p:txBody>
          <a:bodyPr wrap="square" rtlCol="0" anchor="t"/>
          <a:lstStyle/>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The line is essentially flat: 5.53 to 5.57 out of 10 across every sleep band.</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High Sleep respondents actually report marginally more stress (5.57) than Very Low Sleep respondents (5.54).</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Combined with the other sleep charts, this confirms sleep quantity alone isn't a meaningful predictor of stress, burnout, or productivity in this sample.</a:t>
            </a:r>
            <a:endParaRPr lang="en-US" sz="110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5 · STRESS ANALYSIS</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Stress vs. Satisfaction &amp; Digital Habits</a:t>
            </a:r>
            <a:endParaRPr lang="en-US" sz="2400" dirty="0"/>
          </a:p>
        </p:txBody>
      </p:sp>
      <p:sp>
        <p:nvSpPr>
          <p:cNvPr id="4" name="Shape 2"/>
          <p:cNvSpPr/>
          <p:nvPr/>
        </p:nvSpPr>
        <p:spPr>
          <a:xfrm>
            <a:off x="640080"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Avg. Job Satisfaction by Stress Group</a:t>
            </a:r>
            <a:endParaRPr lang="en-US" sz="1300" dirty="0"/>
          </a:p>
        </p:txBody>
      </p:sp>
      <p:graphicFrame>
        <p:nvGraphicFramePr>
          <p:cNvPr id="6" name="Chart 0" descr=""/>
          <p:cNvGraphicFramePr/>
          <p:nvPr/>
        </p:nvGraphicFramePr>
        <p:xfrm>
          <a:off x="822960" y="1828800"/>
          <a:ext cx="4937760" cy="2514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68680"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Job satisfaction is essentially identical across Low, Medium, and High Stress groups (4.95-4.98) — stress level doesn't predict how satisfied someone is with their job here.</a:t>
            </a:r>
            <a:endParaRPr lang="en-US" sz="1050" dirty="0"/>
          </a:p>
        </p:txBody>
      </p:sp>
      <p:sp>
        <p:nvSpPr>
          <p:cNvPr id="8" name="Shape 5"/>
          <p:cNvSpPr/>
          <p:nvPr/>
        </p:nvSpPr>
        <p:spPr>
          <a:xfrm>
            <a:off x="6245352"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9" name="Text 6"/>
          <p:cNvSpPr/>
          <p:nvPr/>
        </p:nvSpPr>
        <p:spPr>
          <a:xfrm>
            <a:off x="6473952"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Avg. Social Media Time by Stress Group</a:t>
            </a:r>
            <a:endParaRPr lang="en-US" sz="1300" dirty="0"/>
          </a:p>
        </p:txBody>
      </p:sp>
      <p:graphicFrame>
        <p:nvGraphicFramePr>
          <p:cNvPr id="10" name="Chart 1" descr=""/>
          <p:cNvGraphicFramePr/>
          <p:nvPr/>
        </p:nvGraphicFramePr>
        <p:xfrm>
          <a:off x="6428232" y="1828800"/>
          <a:ext cx="4937760" cy="25146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473952"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Confirms the Dashboard 2 finding from the other direction: the most-stressed group doesn't use social media any more or less than the least-stressed group.</a:t>
            </a:r>
            <a:endParaRPr lang="en-US" sz="105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5 · STRESS ANALYSIS</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Productivity &amp; Burnout Together</a:t>
            </a:r>
            <a:endParaRPr lang="en-US" sz="2400" dirty="0"/>
          </a:p>
        </p:txBody>
      </p:sp>
      <p:sp>
        <p:nvSpPr>
          <p:cNvPr id="4" name="Shape 2"/>
          <p:cNvSpPr/>
          <p:nvPr/>
        </p:nvSpPr>
        <p:spPr>
          <a:xfrm>
            <a:off x="640080" y="1234440"/>
            <a:ext cx="685800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6400800" cy="457200"/>
          </a:xfrm>
          <a:prstGeom prst="rect">
            <a:avLst/>
          </a:prstGeom>
          <a:noFill/>
          <a:ln/>
        </p:spPr>
        <p:txBody>
          <a:bodyPr wrap="square" rtlCol="0" anchor="ctr"/>
          <a:lstStyle/>
          <a:p>
            <a:pPr indent="0" marL="0">
              <a:buNone/>
            </a:pPr>
            <a:r>
              <a:rPr lang="en-US" sz="1400" b="1" dirty="0">
                <a:solidFill>
                  <a:srgbClr val="1B3A4B"/>
                </a:solidFill>
                <a:latin typeface="Cambria" pitchFamily="34" charset="0"/>
                <a:ea typeface="Cambria" pitchFamily="34" charset="-122"/>
                <a:cs typeface="Cambria" pitchFamily="34" charset="-120"/>
              </a:rPr>
              <a:t>Avg. Productivity vs. Avg. Burnout Days by Stress Group</a:t>
            </a:r>
            <a:endParaRPr lang="en-US" sz="1400" dirty="0"/>
          </a:p>
        </p:txBody>
      </p:sp>
      <p:graphicFrame>
        <p:nvGraphicFramePr>
          <p:cNvPr id="6" name="Chart 0" descr=""/>
          <p:cNvGraphicFramePr/>
          <p:nvPr/>
        </p:nvGraphicFramePr>
        <p:xfrm>
          <a:off x="822960" y="187452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80960" y="1234440"/>
            <a:ext cx="3886200" cy="4892040"/>
          </a:xfrm>
          <a:prstGeom prst="roundRect">
            <a:avLst>
              <a:gd name="adj" fmla="val 2353"/>
            </a:avLst>
          </a:prstGeom>
          <a:solidFill>
            <a:srgbClr val="1B3A4B"/>
          </a:solidFill>
          <a:ln/>
          <a:effectLst>
            <a:outerShdw sx="100000" sy="100000" kx="0" ky="0" algn="bl" rotWithShape="0" blurRad="127000" dist="38100" dir="5400000">
              <a:srgbClr val="0B2530">
                <a:alpha val="12000"/>
              </a:srgbClr>
            </a:outerShdw>
          </a:effectLst>
        </p:spPr>
      </p:sp>
      <p:sp>
        <p:nvSpPr>
          <p:cNvPr id="8" name="Shape 5"/>
          <p:cNvSpPr/>
          <p:nvPr/>
        </p:nvSpPr>
        <p:spPr>
          <a:xfrm>
            <a:off x="7955280" y="1508760"/>
            <a:ext cx="548640" cy="548640"/>
          </a:xfrm>
          <a:prstGeom prst="ellipse">
            <a:avLst/>
          </a:prstGeom>
          <a:solidFill>
            <a:srgbClr val="02C39A"/>
          </a:solidFill>
          <a:ln/>
        </p:spPr>
      </p:sp>
      <p:pic>
        <p:nvPicPr>
          <p:cNvPr id="9" name="Image 0" descr="/home/claude/deck/icons/chartline_navy.png">    </p:cNvPr>
          <p:cNvPicPr>
            <a:picLocks noChangeAspect="1"/>
          </p:cNvPicPr>
          <p:nvPr/>
        </p:nvPicPr>
        <p:blipFill>
          <a:blip r:embed="rId2"/>
          <a:stretch>
            <a:fillRect/>
          </a:stretch>
        </p:blipFill>
        <p:spPr>
          <a:xfrm>
            <a:off x="8086954" y="1640434"/>
            <a:ext cx="285293" cy="285293"/>
          </a:xfrm>
          <a:prstGeom prst="rect">
            <a:avLst/>
          </a:prstGeom>
        </p:spPr>
      </p:pic>
      <p:sp>
        <p:nvSpPr>
          <p:cNvPr id="10" name="Text 6"/>
          <p:cNvSpPr/>
          <p:nvPr/>
        </p:nvSpPr>
        <p:spPr>
          <a:xfrm>
            <a:off x="7955280" y="2194560"/>
            <a:ext cx="3291840" cy="457200"/>
          </a:xfrm>
          <a:prstGeom prst="rect">
            <a:avLst/>
          </a:prstGeom>
          <a:noFill/>
          <a:ln/>
        </p:spPr>
        <p:txBody>
          <a:bodyPr wrap="square" rtlCol="0" anchor="ctr"/>
          <a:lstStyle/>
          <a:p>
            <a:pPr indent="0" marL="0">
              <a:buNone/>
            </a:pPr>
            <a:r>
              <a:rPr lang="en-US" sz="1500" b="1" dirty="0">
                <a:solidFill>
                  <a:srgbClr val="02C39A"/>
                </a:solidFill>
                <a:latin typeface="Cambria" pitchFamily="34" charset="0"/>
                <a:ea typeface="Cambria" pitchFamily="34" charset="-122"/>
                <a:cs typeface="Cambria" pitchFamily="34" charset="-120"/>
              </a:rPr>
              <a:t>Reading</a:t>
            </a:r>
            <a:endParaRPr lang="en-US" sz="1500" dirty="0"/>
          </a:p>
        </p:txBody>
      </p:sp>
      <p:sp>
        <p:nvSpPr>
          <p:cNvPr id="11" name="Text 7"/>
          <p:cNvSpPr/>
          <p:nvPr/>
        </p:nvSpPr>
        <p:spPr>
          <a:xfrm>
            <a:off x="7955280" y="2697480"/>
            <a:ext cx="3337560" cy="3291840"/>
          </a:xfrm>
          <a:prstGeom prst="rect">
            <a:avLst/>
          </a:prstGeom>
          <a:noFill/>
          <a:ln/>
        </p:spPr>
        <p:txBody>
          <a:bodyPr wrap="square" rtlCol="0" anchor="t"/>
          <a:lstStyle/>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Combo chart from the live report: bars = productivity, line = burnout days, on separate scales.</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Both metrics are flat across stress groups — productivity holds at ~4.95-4.96 and burnout at ~15.5-15.6 days no matter the stress level.</a:t>
            </a:r>
            <a:endParaRPr lang="en-US" sz="1100" dirty="0"/>
          </a:p>
          <a:p>
            <a:pPr marL="342900" indent="-342900">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If stress were driving burnout or hurting output, we'd expect the High Stress bar/line to diverge — it doesn't.</a:t>
            </a:r>
            <a:endParaRPr lang="en-US" sz="110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5 · STRESS ANALYSIS</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Stress by Occupation &amp; the Perception Gap</a:t>
            </a:r>
            <a:endParaRPr lang="en-US" sz="2400" dirty="0"/>
          </a:p>
        </p:txBody>
      </p:sp>
      <p:sp>
        <p:nvSpPr>
          <p:cNvPr id="4" name="Shape 2"/>
          <p:cNvSpPr/>
          <p:nvPr/>
        </p:nvSpPr>
        <p:spPr>
          <a:xfrm>
            <a:off x="640080"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5" name="Text 3"/>
          <p:cNvSpPr/>
          <p:nvPr/>
        </p:nvSpPr>
        <p:spPr>
          <a:xfrm>
            <a:off x="868680"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Avg. Stress Level by Job Type</a:t>
            </a:r>
            <a:endParaRPr lang="en-US" sz="1300" dirty="0"/>
          </a:p>
        </p:txBody>
      </p:sp>
      <p:graphicFrame>
        <p:nvGraphicFramePr>
          <p:cNvPr id="6" name="Chart 0" descr=""/>
          <p:cNvGraphicFramePr/>
          <p:nvPr/>
        </p:nvGraphicFramePr>
        <p:xfrm>
          <a:off x="822960" y="1828800"/>
          <a:ext cx="4937760" cy="25146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868680"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Finance shows the highest average stress (5.61) and Unemployed the lowest (5.50) — a narrow 0.11-point spread across all six occupations.</a:t>
            </a:r>
            <a:endParaRPr lang="en-US" sz="1050" dirty="0"/>
          </a:p>
        </p:txBody>
      </p:sp>
      <p:sp>
        <p:nvSpPr>
          <p:cNvPr id="8" name="Shape 5"/>
          <p:cNvSpPr/>
          <p:nvPr/>
        </p:nvSpPr>
        <p:spPr>
          <a:xfrm>
            <a:off x="6245352" y="1234440"/>
            <a:ext cx="5303520" cy="4892040"/>
          </a:xfrm>
          <a:prstGeom prst="roundRect">
            <a:avLst>
              <a:gd name="adj" fmla="val 1869"/>
            </a:avLst>
          </a:prstGeom>
          <a:solidFill>
            <a:srgbClr val="EFF8F7"/>
          </a:solidFill>
          <a:ln/>
          <a:effectLst>
            <a:outerShdw sx="100000" sy="100000" kx="0" ky="0" algn="bl" rotWithShape="0" blurRad="127000" dist="38100" dir="5400000">
              <a:srgbClr val="0B2530">
                <a:alpha val="12000"/>
              </a:srgbClr>
            </a:outerShdw>
          </a:effectLst>
        </p:spPr>
      </p:sp>
      <p:sp>
        <p:nvSpPr>
          <p:cNvPr id="9" name="Text 6"/>
          <p:cNvSpPr/>
          <p:nvPr/>
        </p:nvSpPr>
        <p:spPr>
          <a:xfrm>
            <a:off x="6473952" y="1371600"/>
            <a:ext cx="4846320" cy="457200"/>
          </a:xfrm>
          <a:prstGeom prst="rect">
            <a:avLst/>
          </a:prstGeom>
          <a:noFill/>
          <a:ln/>
        </p:spPr>
        <p:txBody>
          <a:bodyPr wrap="square" rtlCol="0" anchor="ctr"/>
          <a:lstStyle/>
          <a:p>
            <a:pPr indent="0" marL="0">
              <a:buNone/>
            </a:pPr>
            <a:r>
              <a:rPr lang="en-US" sz="1300" b="1" dirty="0">
                <a:solidFill>
                  <a:srgbClr val="1B3A4B"/>
                </a:solidFill>
                <a:latin typeface="Cambria" pitchFamily="34" charset="0"/>
                <a:ea typeface="Cambria" pitchFamily="34" charset="-122"/>
                <a:cs typeface="Cambria" pitchFamily="34" charset="-120"/>
              </a:rPr>
              <a:t>Productivity Gap by Stress Group</a:t>
            </a:r>
            <a:endParaRPr lang="en-US" sz="1300" dirty="0"/>
          </a:p>
        </p:txBody>
      </p:sp>
      <p:graphicFrame>
        <p:nvGraphicFramePr>
          <p:cNvPr id="10" name="Chart 1" descr=""/>
          <p:cNvGraphicFramePr/>
          <p:nvPr/>
        </p:nvGraphicFramePr>
        <p:xfrm>
          <a:off x="6428232" y="1828800"/>
          <a:ext cx="4937760" cy="25146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p:nvPr/>
        </p:nvSpPr>
        <p:spPr>
          <a:xfrm>
            <a:off x="6473952" y="4434840"/>
            <a:ext cx="4846320" cy="1554480"/>
          </a:xfrm>
          <a:prstGeom prst="rect">
            <a:avLst/>
          </a:prstGeom>
          <a:noFill/>
          <a:ln/>
        </p:spPr>
        <p:txBody>
          <a:bodyPr wrap="square" rtlCol="0" anchor="t"/>
          <a:lstStyle/>
          <a:p>
            <a:pPr indent="0" marL="0">
              <a:buNone/>
            </a:pPr>
            <a:r>
              <a:rPr lang="en-US" sz="1050" b="1" dirty="0">
                <a:solidFill>
                  <a:srgbClr val="1B3A4B"/>
                </a:solidFill>
                <a:latin typeface="Calibri" pitchFamily="34" charset="0"/>
                <a:ea typeface="Calibri" pitchFamily="34" charset="-122"/>
                <a:cs typeface="Calibri" pitchFamily="34" charset="-120"/>
              </a:rPr>
              <a:t>Analysis: </a:t>
            </a:r>
            <a:pPr indent="0" marL="0">
              <a:buNone/>
            </a:pPr>
            <a:r>
              <a:rPr lang="en-US" sz="1050" dirty="0">
                <a:solidFill>
                  <a:srgbClr val="5B7A85"/>
                </a:solidFill>
                <a:latin typeface="Calibri" pitchFamily="34" charset="0"/>
                <a:ea typeface="Calibri" pitchFamily="34" charset="-122"/>
                <a:cs typeface="Calibri" pitchFamily="34" charset="-120"/>
              </a:rPr>
              <a:t>High Stress respondents over-rate their own productivity slightly more (0.567) than Medium Stress respondents (0.551) — a small but logical pattern: stress may cloud self-assessment a little.</a:t>
            </a:r>
            <a:endParaRPr lang="en-US" sz="1050" dirty="0"/>
          </a:p>
        </p:txBody>
      </p:sp>
      <p:sp>
        <p:nvSpPr>
          <p:cNvPr id="12" name="Text 8"/>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13" name="Text 9"/>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9144000" cy="274320"/>
          </a:xfrm>
          <a:prstGeom prst="rect">
            <a:avLst/>
          </a:prstGeom>
          <a:noFill/>
          <a:ln/>
        </p:spPr>
        <p:txBody>
          <a:bodyPr wrap="square" rtlCol="0" anchor="ctr"/>
          <a:lstStyle/>
          <a:p>
            <a:pPr indent="0" marL="0">
              <a:buNone/>
            </a:pPr>
            <a:r>
              <a:rPr lang="en-US" sz="1100" b="1" spc="200" kern="0" dirty="0">
                <a:solidFill>
                  <a:srgbClr val="00A896"/>
                </a:solidFill>
                <a:latin typeface="Calibri" pitchFamily="34" charset="0"/>
                <a:ea typeface="Calibri" pitchFamily="34" charset="-122"/>
                <a:cs typeface="Calibri" pitchFamily="34" charset="-120"/>
              </a:rPr>
              <a:t>DASHBOARD 5 · STRESS ANALYSIS</a:t>
            </a:r>
            <a:endParaRPr lang="en-US" sz="1100" dirty="0"/>
          </a:p>
        </p:txBody>
      </p:sp>
      <p:sp>
        <p:nvSpPr>
          <p:cNvPr id="3" name="Text 1"/>
          <p:cNvSpPr/>
          <p:nvPr/>
        </p:nvSpPr>
        <p:spPr>
          <a:xfrm>
            <a:off x="640080" y="548640"/>
            <a:ext cx="10515600" cy="502920"/>
          </a:xfrm>
          <a:prstGeom prst="rect">
            <a:avLst/>
          </a:prstGeom>
          <a:noFill/>
          <a:ln/>
        </p:spPr>
        <p:txBody>
          <a:bodyPr wrap="square" rtlCol="0" anchor="ctr"/>
          <a:lstStyle/>
          <a:p>
            <a:pPr indent="0" marL="0">
              <a:buNone/>
            </a:pPr>
            <a:r>
              <a:rPr lang="en-US" sz="2400" b="1" dirty="0">
                <a:solidFill>
                  <a:srgbClr val="1B3A4B"/>
                </a:solidFill>
                <a:latin typeface="Cambria" pitchFamily="34" charset="0"/>
                <a:ea typeface="Cambria" pitchFamily="34" charset="-122"/>
                <a:cs typeface="Cambria" pitchFamily="34" charset="-120"/>
              </a:rPr>
              <a:t>Age Group Detail — Pivot Table</a:t>
            </a:r>
            <a:endParaRPr lang="en-US" sz="2400" dirty="0"/>
          </a:p>
        </p:txBody>
      </p:sp>
      <p:sp>
        <p:nvSpPr>
          <p:cNvPr id="4" name="Text 2"/>
          <p:cNvSpPr/>
          <p:nvPr/>
        </p:nvSpPr>
        <p:spPr>
          <a:xfrm>
            <a:off x="640080" y="1024128"/>
            <a:ext cx="10058400" cy="365760"/>
          </a:xfrm>
          <a:prstGeom prst="rect">
            <a:avLst/>
          </a:prstGeom>
          <a:noFill/>
          <a:ln/>
        </p:spPr>
        <p:txBody>
          <a:bodyPr wrap="square" rtlCol="0" anchor="ctr"/>
          <a:lstStyle/>
          <a:p>
            <a:pPr indent="0" marL="0">
              <a:buNone/>
            </a:pPr>
            <a:r>
              <a:rPr lang="en-US" sz="1200" i="1" dirty="0">
                <a:solidFill>
                  <a:srgbClr val="5B7A85"/>
                </a:solidFill>
                <a:latin typeface="Calibri" pitchFamily="34" charset="0"/>
                <a:ea typeface="Calibri" pitchFamily="34" charset="-122"/>
                <a:cs typeface="Calibri" pitchFamily="34" charset="-120"/>
              </a:rPr>
              <a:t>The report's cross-tab view: every core metric broken out by age band</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27080" cy="2194560"/>
        </p:xfrm>
        <a:graphic>
          <a:graphicData uri="http://schemas.openxmlformats.org/drawingml/2006/table">
            <a:tbl>
              <a:tblPr/>
              <a:tblGrid>
                <a:gridCol w="1561011"/>
                <a:gridCol w="1561011"/>
                <a:gridCol w="1561011"/>
                <a:gridCol w="1561011"/>
                <a:gridCol w="1561011"/>
                <a:gridCol w="1561011"/>
                <a:gridCol w="1561011"/>
              </a:tblGrid>
              <a:tr h="365760">
                <a:tc>
                  <a:txBody>
                    <a:bodyPr/>
                    <a:lstStyle/>
                    <a:p>
                      <a:pPr indent="0" marL="0">
                        <a:buNone/>
                      </a:pPr>
                      <a:r>
                        <a:rPr lang="en-US" sz="1000" b="1" dirty="0">
                          <a:solidFill>
                            <a:srgbClr val="FFFFFF"/>
                          </a:solidFill>
                        </a:rPr>
                        <a:t>Age Group</a:t>
                      </a:r>
                      <a:endParaRPr lang="en-US" sz="100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c>
                  <a:txBody>
                    <a:bodyPr/>
                    <a:lstStyle/>
                    <a:p>
                      <a:pPr indent="0" marL="0">
                        <a:buNone/>
                      </a:pPr>
                      <a:r>
                        <a:rPr lang="en-US" sz="1000" b="1" dirty="0">
                          <a:solidFill>
                            <a:srgbClr val="FFFFFF"/>
                          </a:solidFill>
                        </a:rPr>
                        <a:t>Avg Burnout Days</a:t>
                      </a:r>
                      <a:endParaRPr lang="en-US" sz="100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c>
                  <a:txBody>
                    <a:bodyPr/>
                    <a:lstStyle/>
                    <a:p>
                      <a:pPr indent="0" marL="0">
                        <a:buNone/>
                      </a:pPr>
                      <a:r>
                        <a:rPr lang="en-US" sz="1000" b="1" dirty="0">
                          <a:solidFill>
                            <a:srgbClr val="FFFFFF"/>
                          </a:solidFill>
                        </a:rPr>
                        <a:t>Sum Actual Productivity</a:t>
                      </a:r>
                      <a:endParaRPr lang="en-US" sz="100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c>
                  <a:txBody>
                    <a:bodyPr/>
                    <a:lstStyle/>
                    <a:p>
                      <a:pPr indent="0" marL="0">
                        <a:buNone/>
                      </a:pPr>
                      <a:r>
                        <a:rPr lang="en-US" sz="1000" b="1" dirty="0">
                          <a:solidFill>
                            <a:srgbClr val="FFFFFF"/>
                          </a:solidFill>
                        </a:rPr>
                        <a:t>Avg Screen Before Sleep</a:t>
                      </a:r>
                      <a:endParaRPr lang="en-US" sz="100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c>
                  <a:txBody>
                    <a:bodyPr/>
                    <a:lstStyle/>
                    <a:p>
                      <a:pPr indent="0" marL="0">
                        <a:buNone/>
                      </a:pPr>
                      <a:r>
                        <a:rPr lang="en-US" sz="1000" b="1" dirty="0">
                          <a:solidFill>
                            <a:srgbClr val="FFFFFF"/>
                          </a:solidFill>
                        </a:rPr>
                        <a:t>Avg Social Media Time</a:t>
                      </a:r>
                      <a:endParaRPr lang="en-US" sz="100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c>
                  <a:txBody>
                    <a:bodyPr/>
                    <a:lstStyle/>
                    <a:p>
                      <a:pPr indent="0" marL="0">
                        <a:buNone/>
                      </a:pPr>
                      <a:r>
                        <a:rPr lang="en-US" sz="1000" b="1" dirty="0">
                          <a:solidFill>
                            <a:srgbClr val="FFFFFF"/>
                          </a:solidFill>
                        </a:rPr>
                        <a:t>Productivity Gap</a:t>
                      </a:r>
                      <a:endParaRPr lang="en-US" sz="100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c>
                  <a:txBody>
                    <a:bodyPr/>
                    <a:lstStyle/>
                    <a:p>
                      <a:pPr indent="0" marL="0">
                        <a:buNone/>
                      </a:pPr>
                      <a:r>
                        <a:rPr lang="en-US" sz="1000" b="1" dirty="0">
                          <a:solidFill>
                            <a:srgbClr val="FFFFFF"/>
                          </a:solidFill>
                        </a:rPr>
                        <a:t>Total Users</a:t>
                      </a:r>
                      <a:endParaRPr lang="en-US" sz="100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1B3A4B"/>
                    </a:solidFill>
                  </a:tcPr>
                </a:tc>
              </a:tr>
              <a:tr h="365760">
                <a:tc>
                  <a:txBody>
                    <a:bodyPr/>
                    <a:lstStyle/>
                    <a:p>
                      <a:pPr indent="0" marL="0">
                        <a:buNone/>
                      </a:pPr>
                      <a:r>
                        <a:rPr lang="en-US" sz="1050" dirty="0">
                          <a:solidFill>
                            <a:srgbClr val="1B3A4B"/>
                          </a:solidFill>
                        </a:rPr>
                        <a:t>18-24</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15.70</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21,097.6</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1.02h</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3.11h</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0.56</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4,299</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B3A4B"/>
                          </a:solidFill>
                        </a:rPr>
                        <a:t>25-34</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15.60</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31,595.5</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1.03h</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3.10h</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0.57</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6,401</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365760">
                <a:tc>
                  <a:txBody>
                    <a:bodyPr/>
                    <a:lstStyle/>
                    <a:p>
                      <a:pPr indent="0" marL="0">
                        <a:buNone/>
                      </a:pPr>
                      <a:r>
                        <a:rPr lang="en-US" sz="1050" dirty="0">
                          <a:solidFill>
                            <a:srgbClr val="1B3A4B"/>
                          </a:solidFill>
                        </a:rPr>
                        <a:t>35-44</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15.38</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31,190.0</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1.03h</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3.11h</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0.55</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6,256</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B3A4B"/>
                          </a:solidFill>
                        </a:rPr>
                        <a:t>45-54</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15.62</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30,588.7</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1.03h</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3.12h</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0.56</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c>
                  <a:txBody>
                    <a:bodyPr/>
                    <a:lstStyle/>
                    <a:p>
                      <a:pPr indent="0" marL="0">
                        <a:buNone/>
                      </a:pPr>
                      <a:r>
                        <a:rPr lang="en-US" sz="1050" dirty="0">
                          <a:solidFill>
                            <a:srgbClr val="1B3A4B"/>
                          </a:solidFill>
                        </a:rPr>
                        <a:t>6,210</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5FAF9"/>
                    </a:solidFill>
                  </a:tcPr>
                </a:tc>
              </a:tr>
              <a:tr h="365760">
                <a:tc>
                  <a:txBody>
                    <a:bodyPr/>
                    <a:lstStyle/>
                    <a:p>
                      <a:pPr indent="0" marL="0">
                        <a:buNone/>
                      </a:pPr>
                      <a:r>
                        <a:rPr lang="en-US" sz="1050" dirty="0">
                          <a:solidFill>
                            <a:srgbClr val="1B3A4B"/>
                          </a:solidFill>
                        </a:rPr>
                        <a:t>55+</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15.53</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34,078.1</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1.03h</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3.11h</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0.56</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c>
                  <a:txBody>
                    <a:bodyPr/>
                    <a:lstStyle/>
                    <a:p>
                      <a:pPr indent="0" marL="0">
                        <a:buNone/>
                      </a:pPr>
                      <a:r>
                        <a:rPr lang="en-US" sz="1050" dirty="0">
                          <a:solidFill>
                            <a:srgbClr val="1B3A4B"/>
                          </a:solidFill>
                        </a:rPr>
                        <a:t>6,834</a:t>
                      </a:r>
                      <a:endParaRPr lang="en-US" sz="1050" dirty="0"/>
                    </a:p>
                  </a:txBody>
                  <a:tcPr marL="76200" marR="76200" marT="50800" marB="50800" anchor="ctr">
                    <a:lnL w="6350" cap="flat" cmpd="sng" algn="ctr">
                      <a:solidFill>
                        <a:srgbClr val="DCEAE8"/>
                      </a:solidFill>
                      <a:prstDash val="solid"/>
                      <a:round/>
                      <a:headEnd type="none" w="med" len="med"/>
                      <a:tailEnd type="none" w="med" len="med"/>
                    </a:lnL>
                    <a:lnR w="6350" cap="flat" cmpd="sng" algn="ctr">
                      <a:solidFill>
                        <a:srgbClr val="DCEAE8"/>
                      </a:solidFill>
                      <a:prstDash val="solid"/>
                      <a:round/>
                      <a:headEnd type="none" w="med" len="med"/>
                      <a:tailEnd type="none" w="med" len="med"/>
                    </a:lnR>
                    <a:lnT w="6350" cap="flat" cmpd="sng" algn="ctr">
                      <a:solidFill>
                        <a:srgbClr val="DCEAE8"/>
                      </a:solidFill>
                      <a:prstDash val="solid"/>
                      <a:round/>
                      <a:headEnd type="none" w="med" len="med"/>
                      <a:tailEnd type="none" w="med" len="med"/>
                    </a:lnT>
                    <a:lnB w="6350" cap="flat" cmpd="sng" algn="ctr">
                      <a:solidFill>
                        <a:srgbClr val="DCEAE8"/>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023360"/>
            <a:ext cx="10927080" cy="2103120"/>
          </a:xfrm>
          <a:prstGeom prst="roundRect">
            <a:avLst>
              <a:gd name="adj" fmla="val 4348"/>
            </a:avLst>
          </a:prstGeom>
          <a:solidFill>
            <a:srgbClr val="EFF8F7"/>
          </a:solidFill>
          <a:ln/>
          <a:effectLst>
            <a:outerShdw sx="100000" sy="100000" kx="0" ky="0" algn="bl" rotWithShape="0" blurRad="127000" dist="38100" dir="5400000">
              <a:srgbClr val="0B2530">
                <a:alpha val="12000"/>
              </a:srgbClr>
            </a:outerShdw>
          </a:effectLst>
        </p:spPr>
      </p:sp>
      <p:sp>
        <p:nvSpPr>
          <p:cNvPr id="7" name="Text 4"/>
          <p:cNvSpPr/>
          <p:nvPr/>
        </p:nvSpPr>
        <p:spPr>
          <a:xfrm>
            <a:off x="914400" y="4206240"/>
            <a:ext cx="10378440" cy="1828800"/>
          </a:xfrm>
          <a:prstGeom prst="rect">
            <a:avLst/>
          </a:prstGeom>
          <a:noFill/>
          <a:ln/>
        </p:spPr>
        <p:txBody>
          <a:bodyPr wrap="square" rtlCol="0" anchor="t"/>
          <a:lstStyle/>
          <a:p>
            <a:pPr indent="0" marL="0">
              <a:buNone/>
            </a:pPr>
            <a:r>
              <a:rPr lang="en-US" sz="1150" b="1" dirty="0">
                <a:solidFill>
                  <a:srgbClr val="1B3A4B"/>
                </a:solidFill>
                <a:latin typeface="Calibri" pitchFamily="34" charset="0"/>
                <a:ea typeface="Calibri" pitchFamily="34" charset="-122"/>
                <a:cs typeface="Calibri" pitchFamily="34" charset="-120"/>
              </a:rPr>
              <a:t>Analysis: </a:t>
            </a:r>
            <a:pPr indent="0" marL="0">
              <a:buNone/>
            </a:pPr>
            <a:r>
              <a:rPr lang="en-US" sz="1150" dirty="0">
                <a:solidFill>
                  <a:srgbClr val="5B7A85"/>
                </a:solidFill>
                <a:latin typeface="Calibri" pitchFamily="34" charset="0"/>
                <a:ea typeface="Calibri" pitchFamily="34" charset="-122"/>
                <a:cs typeface="Calibri" pitchFamily="34" charset="-120"/>
              </a:rPr>
              <a:t>Burnout ranges only from 15.38 (35-44) to 15.70 days (18-24) — the youngest group burns out slightly more often. The productivity gap is remarkably stable (0.55-0.57) across every age band, and screen time before sleep and social media time barely vary (within 0.02h and 0.02h respectively). The 'Sum Actual Productivity' column mostly reflects group size (55+ has the most users, so the highest sum) rather than a per-person effect — the average, shown elsewhere, tells the real story.</a:t>
            </a:r>
            <a:endParaRPr lang="en-US" sz="1150" dirty="0"/>
          </a:p>
        </p:txBody>
      </p:sp>
      <p:sp>
        <p:nvSpPr>
          <p:cNvPr id="8" name="Text 5"/>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5B7A85"/>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9" name="Text 6"/>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5B7A8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3A4B"/>
        </a:solidFill>
      </p:bgPr>
    </p:bg>
    <p:spTree>
      <p:nvGrpSpPr>
        <p:cNvPr id="1" name=""/>
        <p:cNvGrpSpPr/>
        <p:nvPr/>
      </p:nvGrpSpPr>
      <p:grpSpPr>
        <a:xfrm>
          <a:off x="0" y="0"/>
          <a:ext cx="0" cy="0"/>
          <a:chOff x="0" y="0"/>
          <a:chExt cx="0" cy="0"/>
        </a:xfrm>
      </p:grpSpPr>
      <p:sp>
        <p:nvSpPr>
          <p:cNvPr id="2" name="Shape 0"/>
          <p:cNvSpPr/>
          <p:nvPr/>
        </p:nvSpPr>
        <p:spPr>
          <a:xfrm>
            <a:off x="9692640" y="4389120"/>
            <a:ext cx="4572000" cy="4572000"/>
          </a:xfrm>
          <a:prstGeom prst="ellipse">
            <a:avLst/>
          </a:prstGeom>
          <a:solidFill>
            <a:srgbClr val="2C4A5E"/>
          </a:solidFill>
          <a:ln/>
        </p:spPr>
      </p:sp>
      <p:sp>
        <p:nvSpPr>
          <p:cNvPr id="3" name="Text 1"/>
          <p:cNvSpPr/>
          <p:nvPr/>
        </p:nvSpPr>
        <p:spPr>
          <a:xfrm>
            <a:off x="640080" y="502920"/>
            <a:ext cx="100584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Ties All 26 Charts Together</a:t>
            </a:r>
            <a:endParaRPr lang="en-US" sz="2800" dirty="0"/>
          </a:p>
        </p:txBody>
      </p:sp>
      <p:sp>
        <p:nvSpPr>
          <p:cNvPr id="4" name="Text 2"/>
          <p:cNvSpPr/>
          <p:nvPr/>
        </p:nvSpPr>
        <p:spPr>
          <a:xfrm>
            <a:off x="640080" y="1097280"/>
            <a:ext cx="9601200" cy="365760"/>
          </a:xfrm>
          <a:prstGeom prst="rect">
            <a:avLst/>
          </a:prstGeom>
          <a:noFill/>
          <a:ln/>
        </p:spPr>
        <p:txBody>
          <a:bodyPr wrap="square" rtlCol="0" anchor="ctr"/>
          <a:lstStyle/>
          <a:p>
            <a:pPr indent="0" marL="0">
              <a:buNone/>
            </a:pPr>
            <a:r>
              <a:rPr lang="en-US" sz="1300" i="1" dirty="0">
                <a:solidFill>
                  <a:srgbClr val="9FC9CF"/>
                </a:solidFill>
                <a:latin typeface="Calibri" pitchFamily="34" charset="0"/>
                <a:ea typeface="Calibri" pitchFamily="34" charset="-122"/>
                <a:cs typeface="Calibri" pitchFamily="34" charset="-120"/>
              </a:rPr>
              <a:t>Across every dashboard, the same pattern repeats</a:t>
            </a:r>
            <a:endParaRPr lang="en-US" sz="1300" dirty="0"/>
          </a:p>
        </p:txBody>
      </p:sp>
      <p:sp>
        <p:nvSpPr>
          <p:cNvPr id="5" name="Shape 3"/>
          <p:cNvSpPr/>
          <p:nvPr/>
        </p:nvSpPr>
        <p:spPr>
          <a:xfrm>
            <a:off x="640080" y="1691640"/>
            <a:ext cx="502920" cy="502920"/>
          </a:xfrm>
          <a:prstGeom prst="ellipse">
            <a:avLst/>
          </a:prstGeom>
          <a:solidFill>
            <a:srgbClr val="02C39A"/>
          </a:solidFill>
          <a:ln/>
        </p:spPr>
      </p:sp>
      <p:pic>
        <p:nvPicPr>
          <p:cNvPr id="6" name="Image 0" descr="/home/claude/deck/icons/warning_navy.png">    </p:cNvPr>
          <p:cNvPicPr>
            <a:picLocks noChangeAspect="1"/>
          </p:cNvPicPr>
          <p:nvPr/>
        </p:nvPicPr>
        <p:blipFill>
          <a:blip r:embed="rId1"/>
          <a:stretch>
            <a:fillRect/>
          </a:stretch>
        </p:blipFill>
        <p:spPr>
          <a:xfrm>
            <a:off x="760781" y="1812341"/>
            <a:ext cx="261518" cy="261518"/>
          </a:xfrm>
          <a:prstGeom prst="rect">
            <a:avLst/>
          </a:prstGeom>
        </p:spPr>
      </p:pic>
      <p:sp>
        <p:nvSpPr>
          <p:cNvPr id="7" name="Text 4"/>
          <p:cNvSpPr/>
          <p:nvPr/>
        </p:nvSpPr>
        <p:spPr>
          <a:xfrm>
            <a:off x="1371600" y="1664208"/>
            <a:ext cx="96926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Digital habits ≈ no effect</a:t>
            </a:r>
            <a:endParaRPr lang="en-US" sz="1500" dirty="0"/>
          </a:p>
        </p:txBody>
      </p:sp>
      <p:sp>
        <p:nvSpPr>
          <p:cNvPr id="8" name="Text 5"/>
          <p:cNvSpPr/>
          <p:nvPr/>
        </p:nvSpPr>
        <p:spPr>
          <a:xfrm>
            <a:off x="1371600" y="2039112"/>
            <a:ext cx="9966960" cy="457200"/>
          </a:xfrm>
          <a:prstGeom prst="rect">
            <a:avLst/>
          </a:prstGeom>
          <a:noFill/>
          <a:ln/>
        </p:spPr>
        <p:txBody>
          <a:bodyPr wrap="square" rtlCol="0" anchor="ctr"/>
          <a:lstStyle/>
          <a:p>
            <a:pPr indent="0" marL="0">
              <a:buNone/>
            </a:pPr>
            <a:r>
              <a:rPr lang="en-US" sz="1250" dirty="0">
                <a:solidFill>
                  <a:srgbClr val="CADCDC"/>
                </a:solidFill>
                <a:latin typeface="Calibri" pitchFamily="34" charset="0"/>
                <a:ea typeface="Calibri" pitchFamily="34" charset="-122"/>
                <a:cs typeface="Calibri" pitchFamily="34" charset="-120"/>
              </a:rPr>
              <a:t>Social media time, notifications, and screen time show flat outcomes across every chart on every page.</a:t>
            </a:r>
            <a:endParaRPr lang="en-US" sz="1250" dirty="0"/>
          </a:p>
        </p:txBody>
      </p:sp>
      <p:sp>
        <p:nvSpPr>
          <p:cNvPr id="9" name="Shape 6"/>
          <p:cNvSpPr/>
          <p:nvPr/>
        </p:nvSpPr>
        <p:spPr>
          <a:xfrm>
            <a:off x="640080" y="2743200"/>
            <a:ext cx="502920" cy="502920"/>
          </a:xfrm>
          <a:prstGeom prst="ellipse">
            <a:avLst/>
          </a:prstGeom>
          <a:solidFill>
            <a:srgbClr val="02C39A"/>
          </a:solidFill>
          <a:ln/>
        </p:spPr>
      </p:sp>
      <p:pic>
        <p:nvPicPr>
          <p:cNvPr id="10" name="Image 1" descr="/home/claude/deck/icons/chartline_navy.png">    </p:cNvPr>
          <p:cNvPicPr>
            <a:picLocks noChangeAspect="1"/>
          </p:cNvPicPr>
          <p:nvPr/>
        </p:nvPicPr>
        <p:blipFill>
          <a:blip r:embed="rId2"/>
          <a:stretch>
            <a:fillRect/>
          </a:stretch>
        </p:blipFill>
        <p:spPr>
          <a:xfrm>
            <a:off x="760781" y="2863901"/>
            <a:ext cx="261518" cy="261518"/>
          </a:xfrm>
          <a:prstGeom prst="rect">
            <a:avLst/>
          </a:prstGeom>
        </p:spPr>
      </p:pic>
      <p:sp>
        <p:nvSpPr>
          <p:cNvPr id="11" name="Text 7"/>
          <p:cNvSpPr/>
          <p:nvPr/>
        </p:nvSpPr>
        <p:spPr>
          <a:xfrm>
            <a:off x="1371600" y="2715768"/>
            <a:ext cx="96926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Job satisfaction is the real driver</a:t>
            </a:r>
            <a:endParaRPr lang="en-US" sz="1500" dirty="0"/>
          </a:p>
        </p:txBody>
      </p:sp>
      <p:sp>
        <p:nvSpPr>
          <p:cNvPr id="12" name="Text 8"/>
          <p:cNvSpPr/>
          <p:nvPr/>
        </p:nvSpPr>
        <p:spPr>
          <a:xfrm>
            <a:off x="1371600" y="3090672"/>
            <a:ext cx="9966960" cy="457200"/>
          </a:xfrm>
          <a:prstGeom prst="rect">
            <a:avLst/>
          </a:prstGeom>
          <a:noFill/>
          <a:ln/>
        </p:spPr>
        <p:txBody>
          <a:bodyPr wrap="square" rtlCol="0" anchor="ctr"/>
          <a:lstStyle/>
          <a:p>
            <a:pPr indent="0" marL="0">
              <a:buNone/>
            </a:pPr>
            <a:r>
              <a:rPr lang="en-US" sz="1250" dirty="0">
                <a:solidFill>
                  <a:srgbClr val="CADCDC"/>
                </a:solidFill>
                <a:latin typeface="Calibri" pitchFamily="34" charset="0"/>
                <a:ea typeface="Calibri" pitchFamily="34" charset="-122"/>
                <a:cs typeface="Calibri" pitchFamily="34" charset="-120"/>
              </a:rPr>
              <a:t>The only strong relationship found: productivity climbs from 3.20 to 7.09 as job satisfaction rises.</a:t>
            </a:r>
            <a:endParaRPr lang="en-US" sz="1250" dirty="0"/>
          </a:p>
        </p:txBody>
      </p:sp>
      <p:sp>
        <p:nvSpPr>
          <p:cNvPr id="13" name="Shape 9"/>
          <p:cNvSpPr/>
          <p:nvPr/>
        </p:nvSpPr>
        <p:spPr>
          <a:xfrm>
            <a:off x="640080" y="3794760"/>
            <a:ext cx="502920" cy="502920"/>
          </a:xfrm>
          <a:prstGeom prst="ellipse">
            <a:avLst/>
          </a:prstGeom>
          <a:solidFill>
            <a:srgbClr val="02C39A"/>
          </a:solidFill>
          <a:ln/>
        </p:spPr>
      </p:sp>
      <p:pic>
        <p:nvPicPr>
          <p:cNvPr id="14" name="Image 2" descr="/home/claude/deck/icons/check_navy.png">    </p:cNvPr>
          <p:cNvPicPr>
            <a:picLocks noChangeAspect="1"/>
          </p:cNvPicPr>
          <p:nvPr/>
        </p:nvPicPr>
        <p:blipFill>
          <a:blip r:embed="rId3"/>
          <a:stretch>
            <a:fillRect/>
          </a:stretch>
        </p:blipFill>
        <p:spPr>
          <a:xfrm>
            <a:off x="760781" y="3915461"/>
            <a:ext cx="261518" cy="261518"/>
          </a:xfrm>
          <a:prstGeom prst="rect">
            <a:avLst/>
          </a:prstGeom>
        </p:spPr>
      </p:pic>
      <p:sp>
        <p:nvSpPr>
          <p:cNvPr id="15" name="Text 10"/>
          <p:cNvSpPr/>
          <p:nvPr/>
        </p:nvSpPr>
        <p:spPr>
          <a:xfrm>
            <a:off x="1371600" y="3767328"/>
            <a:ext cx="96926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Self-rating is mostly trustworthy</a:t>
            </a:r>
            <a:endParaRPr lang="en-US" sz="1500" dirty="0"/>
          </a:p>
        </p:txBody>
      </p:sp>
      <p:sp>
        <p:nvSpPr>
          <p:cNvPr id="16" name="Text 11"/>
          <p:cNvSpPr/>
          <p:nvPr/>
        </p:nvSpPr>
        <p:spPr>
          <a:xfrm>
            <a:off x="1371600" y="4142232"/>
            <a:ext cx="9966960" cy="457200"/>
          </a:xfrm>
          <a:prstGeom prst="rect">
            <a:avLst/>
          </a:prstGeom>
          <a:noFill/>
          <a:ln/>
        </p:spPr>
        <p:txBody>
          <a:bodyPr wrap="square" rtlCol="0" anchor="ctr"/>
          <a:lstStyle/>
          <a:p>
            <a:pPr indent="0" marL="0">
              <a:buNone/>
            </a:pPr>
            <a:r>
              <a:rPr lang="en-US" sz="1250" dirty="0">
                <a:solidFill>
                  <a:srgbClr val="CADCDC"/>
                </a:solidFill>
                <a:latin typeface="Calibri" pitchFamily="34" charset="0"/>
                <a:ea typeface="Calibri" pitchFamily="34" charset="-122"/>
                <a:cs typeface="Calibri" pitchFamily="34" charset="-120"/>
              </a:rPr>
              <a:t>Perceived and actual productivity track closely, though the gap widens slightly under low sleep and high stress.</a:t>
            </a:r>
            <a:endParaRPr lang="en-US" sz="1250" dirty="0"/>
          </a:p>
        </p:txBody>
      </p:sp>
      <p:sp>
        <p:nvSpPr>
          <p:cNvPr id="17" name="Shape 12"/>
          <p:cNvSpPr/>
          <p:nvPr/>
        </p:nvSpPr>
        <p:spPr>
          <a:xfrm>
            <a:off x="640080" y="4846320"/>
            <a:ext cx="502920" cy="502920"/>
          </a:xfrm>
          <a:prstGeom prst="ellipse">
            <a:avLst/>
          </a:prstGeom>
          <a:solidFill>
            <a:srgbClr val="02C39A"/>
          </a:solidFill>
          <a:ln/>
        </p:spPr>
      </p:sp>
      <p:pic>
        <p:nvPicPr>
          <p:cNvPr id="18" name="Image 3" descr="/home/claude/deck/icons/bulb_navy.png">    </p:cNvPr>
          <p:cNvPicPr>
            <a:picLocks noChangeAspect="1"/>
          </p:cNvPicPr>
          <p:nvPr/>
        </p:nvPicPr>
        <p:blipFill>
          <a:blip r:embed="rId4"/>
          <a:stretch>
            <a:fillRect/>
          </a:stretch>
        </p:blipFill>
        <p:spPr>
          <a:xfrm>
            <a:off x="760781" y="4967021"/>
            <a:ext cx="261518" cy="261518"/>
          </a:xfrm>
          <a:prstGeom prst="rect">
            <a:avLst/>
          </a:prstGeom>
        </p:spPr>
      </p:pic>
      <p:sp>
        <p:nvSpPr>
          <p:cNvPr id="19" name="Text 13"/>
          <p:cNvSpPr/>
          <p:nvPr/>
        </p:nvSpPr>
        <p:spPr>
          <a:xfrm>
            <a:off x="1371600" y="4818888"/>
            <a:ext cx="9692640" cy="3657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Recommendation</a:t>
            </a:r>
            <a:endParaRPr lang="en-US" sz="1500" dirty="0"/>
          </a:p>
        </p:txBody>
      </p:sp>
      <p:sp>
        <p:nvSpPr>
          <p:cNvPr id="20" name="Text 14"/>
          <p:cNvSpPr/>
          <p:nvPr/>
        </p:nvSpPr>
        <p:spPr>
          <a:xfrm>
            <a:off x="1371600" y="5193792"/>
            <a:ext cx="9966960" cy="457200"/>
          </a:xfrm>
          <a:prstGeom prst="rect">
            <a:avLst/>
          </a:prstGeom>
          <a:noFill/>
          <a:ln/>
        </p:spPr>
        <p:txBody>
          <a:bodyPr wrap="square" rtlCol="0" anchor="ctr"/>
          <a:lstStyle/>
          <a:p>
            <a:pPr indent="0" marL="0">
              <a:buNone/>
            </a:pPr>
            <a:r>
              <a:rPr lang="en-US" sz="1250" dirty="0">
                <a:solidFill>
                  <a:srgbClr val="CADCDC"/>
                </a:solidFill>
                <a:latin typeface="Calibri" pitchFamily="34" charset="0"/>
                <a:ea typeface="Calibri" pitchFamily="34" charset="-122"/>
                <a:cs typeface="Calibri" pitchFamily="34" charset="-120"/>
              </a:rPr>
              <a:t>Redirect wellbeing policy away from screen-time limits and toward job satisfaction, role fit, and workload design.</a:t>
            </a:r>
            <a:endParaRPr lang="en-US" sz="1250" dirty="0"/>
          </a:p>
        </p:txBody>
      </p:sp>
      <p:sp>
        <p:nvSpPr>
          <p:cNvPr id="21" name="Text 15"/>
          <p:cNvSpPr/>
          <p:nvPr/>
        </p:nvSpPr>
        <p:spPr>
          <a:xfrm>
            <a:off x="457200" y="6510528"/>
            <a:ext cx="7315200" cy="256032"/>
          </a:xfrm>
          <a:prstGeom prst="rect">
            <a:avLst/>
          </a:prstGeom>
          <a:noFill/>
          <a:ln/>
        </p:spPr>
        <p:txBody>
          <a:bodyPr wrap="square" rtlCol="0" anchor="ctr"/>
          <a:lstStyle/>
          <a:p>
            <a:pPr indent="0" marL="0">
              <a:buNone/>
            </a:pPr>
            <a:r>
              <a:rPr lang="en-US" sz="900" dirty="0">
                <a:solidFill>
                  <a:srgbClr val="9FC9CF"/>
                </a:solidFill>
                <a:latin typeface="Calibri" pitchFamily="34" charset="0"/>
                <a:ea typeface="Calibri" pitchFamily="34" charset="-122"/>
                <a:cs typeface="Calibri" pitchFamily="34" charset="-120"/>
              </a:rPr>
              <a:t>DEPI Graduation Project  |  Digital Habits &amp; Wellbeing Study  |  n = 30,000</a:t>
            </a:r>
            <a:endParaRPr lang="en-US" sz="900" dirty="0"/>
          </a:p>
        </p:txBody>
      </p:sp>
      <p:sp>
        <p:nvSpPr>
          <p:cNvPr id="22" name="Text 16"/>
          <p:cNvSpPr/>
          <p:nvPr/>
        </p:nvSpPr>
        <p:spPr>
          <a:xfrm>
            <a:off x="11277295" y="6510528"/>
            <a:ext cx="457200" cy="256032"/>
          </a:xfrm>
          <a:prstGeom prst="rect">
            <a:avLst/>
          </a:prstGeom>
          <a:noFill/>
          <a:ln/>
        </p:spPr>
        <p:txBody>
          <a:bodyPr wrap="square" rtlCol="0" anchor="ctr"/>
          <a:lstStyle/>
          <a:p>
            <a:pPr algn="r" indent="0" marL="0">
              <a:buNone/>
            </a:pPr>
            <a:r>
              <a:rPr lang="en-US" sz="900" dirty="0">
                <a:solidFill>
                  <a:srgbClr val="9FC9CF"/>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Habits &amp; Wellbeing: Chart-by-Chart Analysis</dc:title>
  <dc:subject>PptxGenJS Presentation</dc:subject>
  <dc:creator>DEPI Graduation Project</dc:creator>
  <cp:lastModifiedBy>DEPI Graduation Project</cp:lastModifiedBy>
  <cp:revision>1</cp:revision>
  <dcterms:created xsi:type="dcterms:W3CDTF">2026-07-02T18:31:20Z</dcterms:created>
  <dcterms:modified xsi:type="dcterms:W3CDTF">2026-07-02T18:31:20Z</dcterms:modified>
</cp:coreProperties>
</file>